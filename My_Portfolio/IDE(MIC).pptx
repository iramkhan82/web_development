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2" r:id="rId3"/>
    <p:sldId id="257" r:id="rId4"/>
    <p:sldId id="263" r:id="rId5"/>
    <p:sldId id="258" r:id="rId6"/>
    <p:sldId id="259" r:id="rId7"/>
    <p:sldId id="260" r:id="rId8"/>
    <p:sldId id="261" r:id="rId9"/>
    <p:sldId id="264" r:id="rId10"/>
    <p:sldId id="265" r:id="rId11"/>
  </p:sldIdLst>
  <p:sldSz cx="18288000" cy="10287000"/>
  <p:notesSz cx="6858000" cy="9144000"/>
  <p:embeddedFontLst>
    <p:embeddedFont>
      <p:font typeface="Arial Bold" panose="020B0704020202020204" pitchFamily="34" charset="0"/>
      <p:regular r:id="rId12"/>
      <p:bold r:id="rId13"/>
    </p:embeddedFont>
    <p:embeddedFont>
      <p:font typeface="Canva Sans Bold" panose="020B0803030501040103" pitchFamily="34" charset="0"/>
      <p:regular r:id="rId14"/>
    </p:embeddedFont>
    <p:embeddedFont>
      <p:font typeface="Times New Roman Bold" panose="02020803070505020304" pitchFamily="18" charset="0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6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514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font" Target="fonts/font2.fntdata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font" Target="fonts/font1.fntdata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font" Target="fonts/font5.fntdata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font" Target="fonts/font4.fntdata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font" Target="fonts/font3.fntdata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sv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 /><Relationship Id="rId7" Type="http://schemas.openxmlformats.org/officeDocument/2006/relationships/image" Target="../media/image7.png" /><Relationship Id="rId2" Type="http://schemas.openxmlformats.org/officeDocument/2006/relationships/image" Target="../media/image3.sv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6.png" /><Relationship Id="rId5" Type="http://schemas.openxmlformats.org/officeDocument/2006/relationships/image" Target="../media/image5.jpeg" /><Relationship Id="rId4" Type="http://schemas.openxmlformats.org/officeDocument/2006/relationships/hyperlink" Target="https://vipin2507.github.io/AI-Guardian/" TargetMode="Externa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 /><Relationship Id="rId3" Type="http://schemas.openxmlformats.org/officeDocument/2006/relationships/image" Target="../media/image3.svg" /><Relationship Id="rId7" Type="http://schemas.openxmlformats.org/officeDocument/2006/relationships/image" Target="../media/image12.png" /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1.png" /><Relationship Id="rId5" Type="http://schemas.openxmlformats.org/officeDocument/2006/relationships/image" Target="../media/image10.png" /><Relationship Id="rId4" Type="http://schemas.openxmlformats.org/officeDocument/2006/relationships/image" Target="../media/image9.png" /><Relationship Id="rId9" Type="http://schemas.openxmlformats.org/officeDocument/2006/relationships/image" Target="../media/image14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 /><Relationship Id="rId2" Type="http://schemas.openxmlformats.org/officeDocument/2006/relationships/image" Target="../media/image3.sv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 /><Relationship Id="rId3" Type="http://schemas.openxmlformats.org/officeDocument/2006/relationships/image" Target="../media/image17.svg" /><Relationship Id="rId7" Type="http://schemas.openxmlformats.org/officeDocument/2006/relationships/image" Target="../media/image21.png" /><Relationship Id="rId12" Type="http://schemas.openxmlformats.org/officeDocument/2006/relationships/image" Target="../media/image26.svg" /><Relationship Id="rId2" Type="http://schemas.openxmlformats.org/officeDocument/2006/relationships/image" Target="../media/image16.sv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20.svg" /><Relationship Id="rId11" Type="http://schemas.openxmlformats.org/officeDocument/2006/relationships/image" Target="../media/image25.png" /><Relationship Id="rId5" Type="http://schemas.openxmlformats.org/officeDocument/2006/relationships/image" Target="../media/image19.svg" /><Relationship Id="rId10" Type="http://schemas.openxmlformats.org/officeDocument/2006/relationships/image" Target="../media/image24.png" /><Relationship Id="rId4" Type="http://schemas.openxmlformats.org/officeDocument/2006/relationships/image" Target="../media/image18.svg" /><Relationship Id="rId9" Type="http://schemas.openxmlformats.org/officeDocument/2006/relationships/image" Target="../media/image23.png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medium.com/pipeline-a-data-engineering-resource/if-you-must-use-a-spreadsheet-as-a-database-at-least-use-this-kind-6c5f66c53679" TargetMode="External" /><Relationship Id="rId3" Type="http://schemas.openxmlformats.org/officeDocument/2006/relationships/hyperlink" Target="https://pmc.ncbi.nlm.nih.gov/articles/PMC11145199/" TargetMode="External" /><Relationship Id="rId7" Type="http://schemas.openxmlformats.org/officeDocument/2006/relationships/hyperlink" Target="https://www.reddit.com/r/dataengineering/comments/mozyb7/best_strategiestools_for_connecting_spreadsheets/" TargetMode="External" /><Relationship Id="rId12" Type="http://schemas.openxmlformats.org/officeDocument/2006/relationships/hyperlink" Target="https://youtu.be/IfWae2EkyVE" TargetMode="External" /><Relationship Id="rId2" Type="http://schemas.openxmlformats.org/officeDocument/2006/relationships/image" Target="../media/image3.svg" /><Relationship Id="rId1" Type="http://schemas.openxmlformats.org/officeDocument/2006/relationships/slideLayout" Target="../slideLayouts/slideLayout7.xml" /><Relationship Id="rId6" Type="http://schemas.openxmlformats.org/officeDocument/2006/relationships/hyperlink" Target="https://www.cdata.com/kb/tech/gsheets-jdbc-google-data-fusion.rst" TargetMode="External" /><Relationship Id="rId11" Type="http://schemas.openxmlformats.org/officeDocument/2006/relationships/image" Target="../media/image4.svg" /><Relationship Id="rId5" Type="http://schemas.openxmlformats.org/officeDocument/2006/relationships/hyperlink" Target="https://www.sciencedirect.com/science/article/pii/S2666764924000341" TargetMode="External" /><Relationship Id="rId10" Type="http://schemas.openxmlformats.org/officeDocument/2006/relationships/hyperlink" Target="https://www.higher-education-marketing.com/blog/mass-notification-system-guide-for-schools" TargetMode="External" /><Relationship Id="rId4" Type="http://schemas.openxmlformats.org/officeDocument/2006/relationships/hyperlink" Target="https://www.mdpi.com/search?q=student+dropout+prediction&amp;journal=applsci" TargetMode="External" /><Relationship Id="rId9" Type="http://schemas.openxmlformats.org/officeDocument/2006/relationships/hyperlink" Target="https://publications.iadb.org/publications/english/document/Empowering-Schools-with-Data--How-Can-We-Achieve-Effective-Use-of-Educational-Dashboards-for-Teachers-and-Principals.pdf" TargetMode="Externa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5223" y="1277281"/>
            <a:ext cx="6953250" cy="7734300"/>
          </a:xfrm>
          <a:custGeom>
            <a:avLst/>
            <a:gdLst/>
            <a:ahLst/>
            <a:cxnLst/>
            <a:rect l="l" t="t" r="r" b="b"/>
            <a:pathLst>
              <a:path w="6953250" h="7734300">
                <a:moveTo>
                  <a:pt x="0" y="0"/>
                </a:moveTo>
                <a:lnTo>
                  <a:pt x="6953250" y="0"/>
                </a:lnTo>
                <a:lnTo>
                  <a:pt x="6953250" y="7734300"/>
                </a:lnTo>
                <a:lnTo>
                  <a:pt x="0" y="7734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8610600" y="1275420"/>
            <a:ext cx="7816196" cy="7718654"/>
            <a:chOff x="0" y="0"/>
            <a:chExt cx="10421595" cy="102915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21620" cy="10291572"/>
            </a:xfrm>
            <a:custGeom>
              <a:avLst/>
              <a:gdLst/>
              <a:ahLst/>
              <a:cxnLst/>
              <a:rect l="l" t="t" r="r" b="b"/>
              <a:pathLst>
                <a:path w="10421620" h="10291572">
                  <a:moveTo>
                    <a:pt x="0" y="0"/>
                  </a:moveTo>
                  <a:lnTo>
                    <a:pt x="10421620" y="0"/>
                  </a:lnTo>
                  <a:lnTo>
                    <a:pt x="10421620" y="10291572"/>
                  </a:lnTo>
                  <a:lnTo>
                    <a:pt x="0" y="10291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263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430984" y="1027310"/>
            <a:ext cx="7890942" cy="7021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2"/>
              </a:lnSpc>
              <a:spcBef>
                <a:spcPct val="0"/>
              </a:spcBef>
            </a:pPr>
            <a:endParaRPr dirty="0"/>
          </a:p>
          <a:p>
            <a:pPr algn="ctr">
              <a:lnSpc>
                <a:spcPts val="3492"/>
              </a:lnSpc>
              <a:spcBef>
                <a:spcPct val="0"/>
              </a:spcBef>
            </a:pPr>
            <a:endParaRPr dirty="0"/>
          </a:p>
          <a:p>
            <a:pPr algn="l">
              <a:lnSpc>
                <a:spcPts val="3971"/>
              </a:lnSpc>
              <a:spcBef>
                <a:spcPct val="0"/>
              </a:spcBef>
            </a:pPr>
            <a:endParaRPr lang="en-US" sz="3320" b="1" spc="-12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ts val="3971"/>
              </a:lnSpc>
              <a:spcBef>
                <a:spcPct val="0"/>
              </a:spcBef>
            </a:pPr>
            <a:endParaRPr lang="en-US" sz="3320" b="1" spc="-12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ts val="3971"/>
              </a:lnSpc>
              <a:spcBef>
                <a:spcPct val="0"/>
              </a:spcBef>
            </a:pPr>
            <a:r>
              <a:rPr lang="en-US" sz="3320" b="1" spc="-12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Title: AI-based Drop-out Prediction and Counseling System</a:t>
            </a:r>
          </a:p>
          <a:p>
            <a:pPr algn="l">
              <a:lnSpc>
                <a:spcPts val="3971"/>
              </a:lnSpc>
              <a:spcBef>
                <a:spcPct val="0"/>
              </a:spcBef>
            </a:pPr>
            <a:endParaRPr lang="en-US" sz="3320" b="1" spc="-12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ts val="3971"/>
              </a:lnSpc>
              <a:spcBef>
                <a:spcPct val="0"/>
              </a:spcBef>
            </a:pPr>
            <a:r>
              <a:rPr lang="en-US" sz="3320" b="1" spc="-12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Theme: Smart Automation</a:t>
            </a:r>
          </a:p>
          <a:p>
            <a:pPr algn="l">
              <a:lnSpc>
                <a:spcPts val="3971"/>
              </a:lnSpc>
              <a:spcBef>
                <a:spcPct val="0"/>
              </a:spcBef>
            </a:pPr>
            <a:endParaRPr lang="en-US" sz="3320" b="1" spc="-12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ts val="3971"/>
              </a:lnSpc>
              <a:spcBef>
                <a:spcPct val="0"/>
              </a:spcBef>
            </a:pPr>
            <a:r>
              <a:rPr lang="en-US" sz="3320" b="1" spc="-12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Category: Software</a:t>
            </a:r>
          </a:p>
          <a:p>
            <a:pPr algn="l">
              <a:lnSpc>
                <a:spcPts val="3971"/>
              </a:lnSpc>
              <a:spcBef>
                <a:spcPct val="0"/>
              </a:spcBef>
            </a:pPr>
            <a:endParaRPr lang="en-US" sz="3320" b="1" spc="-12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ts val="3971"/>
              </a:lnSpc>
              <a:spcBef>
                <a:spcPct val="0"/>
              </a:spcBef>
            </a:pPr>
            <a:r>
              <a:rPr lang="en-US" sz="3320" b="1" spc="-12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ID: </a:t>
            </a:r>
          </a:p>
          <a:p>
            <a:pPr algn="l">
              <a:lnSpc>
                <a:spcPts val="3971"/>
              </a:lnSpc>
              <a:spcBef>
                <a:spcPct val="0"/>
              </a:spcBef>
            </a:pPr>
            <a:endParaRPr lang="en-US" sz="3320" b="1" spc="-12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ts val="3971"/>
              </a:lnSpc>
              <a:spcBef>
                <a:spcPct val="0"/>
              </a:spcBef>
            </a:pPr>
            <a:r>
              <a:rPr lang="en-US" sz="3320" b="1" spc="-12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Name: Syntax Solvers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E71949B-FB5B-8575-A715-7772B6566D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2622" y="159098"/>
            <a:ext cx="9886950" cy="1133803"/>
          </a:xfrm>
        </p:spPr>
        <p:txBody>
          <a:bodyPr>
            <a:no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DROP-OUT PREDICTION AND COUNCELLING SYSTEM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FDB3C-5AAA-279A-808C-0B3D4968B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6087726" cy="925512"/>
          </a:xfrm>
        </p:spPr>
        <p:txBody>
          <a:bodyPr/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r>
              <a:rPr lang="en-IN" dirty="0"/>
              <a:t>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7EBFF7-9F00-01B1-591E-EB4C9DA88B48}"/>
              </a:ext>
            </a:extLst>
          </p:cNvPr>
          <p:cNvSpPr txBox="1"/>
          <p:nvPr/>
        </p:nvSpPr>
        <p:spPr>
          <a:xfrm>
            <a:off x="3357562" y="451485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3803F40A-7DF4-A887-668B-BA107A123E67}"/>
              </a:ext>
            </a:extLst>
          </p:cNvPr>
          <p:cNvSpPr/>
          <p:nvPr/>
        </p:nvSpPr>
        <p:spPr>
          <a:xfrm>
            <a:off x="457198" y="1285875"/>
            <a:ext cx="8972551" cy="4086225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solidFill>
                  <a:schemeClr val="tx1"/>
                </a:solidFill>
              </a:rPr>
              <a:t>Who are we?</a:t>
            </a:r>
          </a:p>
          <a:p>
            <a:pPr algn="ctr"/>
            <a:r>
              <a:rPr lang="en-IN" sz="2800" dirty="0"/>
              <a:t>
We are Team Syntax Solvers, a passionate group of innovators focused on solving real-world education challenges using Artificial Intelligence, Data Analytics, and Smart Automation.</a:t>
            </a:r>
            <a:endParaRPr lang="en-US" sz="2800" dirty="0"/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0E75F0EA-F772-6D75-CA9E-D8892FA72BE8}"/>
              </a:ext>
            </a:extLst>
          </p:cNvPr>
          <p:cNvSpPr/>
          <p:nvPr/>
        </p:nvSpPr>
        <p:spPr>
          <a:xfrm>
            <a:off x="8286750" y="5143500"/>
            <a:ext cx="9544051" cy="4868861"/>
          </a:xfrm>
          <a:prstGeom prst="round2DiagRect">
            <a:avLst>
              <a:gd name="adj1" fmla="val 38823"/>
              <a:gd name="adj2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solidFill>
                  <a:schemeClr val="tx1"/>
                </a:solidFill>
              </a:rPr>
              <a:t>Why are we here?</a:t>
            </a:r>
          </a:p>
          <a:p>
            <a:pPr algn="ctr"/>
            <a:endParaRPr lang="en-IN" sz="4000" b="1" dirty="0">
              <a:solidFill>
                <a:schemeClr val="tx1"/>
              </a:solidFill>
            </a:endParaRPr>
          </a:p>
          <a:p>
            <a:pPr algn="ctr"/>
            <a:r>
              <a:rPr lang="en-IN" sz="2800" dirty="0"/>
              <a:t>
We are here at IDE 2026 to present AI Guardian — an AI-powered Dropout Prediction &amp; </a:t>
            </a:r>
            <a:r>
              <a:rPr lang="en-IN" sz="2800" dirty="0" err="1"/>
              <a:t>Counseling</a:t>
            </a:r>
            <a:r>
              <a:rPr lang="en-IN" sz="2800" dirty="0"/>
              <a:t> System designed to identify at-risk students early and enable timely intervention to protect their academic future.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90602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34144" y="-48127"/>
            <a:ext cx="16554892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</a:t>
            </a:r>
            <a:r>
              <a:rPr lang="en-US" sz="3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 GUARDIAN:</a:t>
            </a:r>
          </a:p>
          <a:p>
            <a:pPr algn="l">
              <a:lnSpc>
                <a:spcPts val="4320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PREVENTING DROPOUTS, PROTECTING FUTURES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32728"/>
            <a:ext cx="2082800" cy="1536700"/>
          </a:xfrm>
          <a:custGeom>
            <a:avLst/>
            <a:gdLst/>
            <a:ahLst/>
            <a:cxnLst/>
            <a:rect l="l" t="t" r="r" b="b"/>
            <a:pathLst>
              <a:path w="2082800" h="1536700">
                <a:moveTo>
                  <a:pt x="0" y="0"/>
                </a:moveTo>
                <a:lnTo>
                  <a:pt x="2082800" y="0"/>
                </a:lnTo>
                <a:lnTo>
                  <a:pt x="2082800" y="1536700"/>
                </a:lnTo>
                <a:lnTo>
                  <a:pt x="0" y="1536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9838226" y="1787571"/>
            <a:ext cx="7593522" cy="3602152"/>
            <a:chOff x="-14472" y="0"/>
            <a:chExt cx="1999940" cy="9487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85468" cy="888508"/>
            </a:xfrm>
            <a:custGeom>
              <a:avLst/>
              <a:gdLst/>
              <a:ahLst/>
              <a:cxnLst/>
              <a:rect l="l" t="t" r="r" b="b"/>
              <a:pathLst>
                <a:path w="1985468" h="888508">
                  <a:moveTo>
                    <a:pt x="0" y="0"/>
                  </a:moveTo>
                  <a:lnTo>
                    <a:pt x="1985468" y="0"/>
                  </a:lnTo>
                  <a:lnTo>
                    <a:pt x="1985468" y="888508"/>
                  </a:lnTo>
                  <a:lnTo>
                    <a:pt x="0" y="888508"/>
                  </a:lnTo>
                  <a:close/>
                </a:path>
              </a:pathLst>
            </a:custGeom>
            <a:solidFill>
              <a:srgbClr val="BEECA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-14472" y="105441"/>
              <a:ext cx="1985468" cy="8432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619"/>
                </a:lnSpc>
              </a:pPr>
              <a:r>
                <a:rPr lang="en-US" sz="3299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Problem:</a:t>
              </a:r>
            </a:p>
            <a:p>
              <a:pPr algn="ctr">
                <a:lnSpc>
                  <a:spcPts val="3779"/>
                </a:lnSpc>
              </a:pPr>
              <a:r>
                <a:rPr lang="en-US" sz="2699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699" dirty="0">
                  <a:solidFill>
                    <a:srgbClr val="1F497D"/>
                  </a:solidFill>
                  <a:latin typeface="Arial"/>
                  <a:ea typeface="Arial"/>
                  <a:cs typeface="Arial"/>
                  <a:sym typeface="Arial"/>
                </a:rPr>
                <a:t>Scattered student records across attendance, tests, and fees prevent early identification of struggling learners, often revealing issues only after it’s too late.</a:t>
              </a:r>
            </a:p>
            <a:p>
              <a:pPr algn="ctr">
                <a:lnSpc>
                  <a:spcPts val="2659"/>
                </a:lnSpc>
              </a:pPr>
              <a:endParaRPr lang="en-US" sz="2699" dirty="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1F497D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73756" y="5719300"/>
            <a:ext cx="7457992" cy="4136477"/>
            <a:chOff x="0" y="0"/>
            <a:chExt cx="1964245" cy="108944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64245" cy="1089443"/>
            </a:xfrm>
            <a:custGeom>
              <a:avLst/>
              <a:gdLst/>
              <a:ahLst/>
              <a:cxnLst/>
              <a:rect l="l" t="t" r="r" b="b"/>
              <a:pathLst>
                <a:path w="1964245" h="1089443">
                  <a:moveTo>
                    <a:pt x="0" y="0"/>
                  </a:moveTo>
                  <a:lnTo>
                    <a:pt x="1964245" y="0"/>
                  </a:lnTo>
                  <a:lnTo>
                    <a:pt x="1964245" y="1089443"/>
                  </a:lnTo>
                  <a:lnTo>
                    <a:pt x="0" y="1089443"/>
                  </a:lnTo>
                  <a:close/>
                </a:path>
              </a:pathLst>
            </a:custGeom>
            <a:solidFill>
              <a:srgbClr val="EDECE1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1964245" cy="11561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619"/>
                </a:lnSpc>
              </a:pPr>
              <a:r>
                <a:rPr lang="en-US" sz="32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01798" y="369658"/>
            <a:ext cx="1169035" cy="839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9"/>
              </a:lnSpc>
            </a:pPr>
            <a:r>
              <a:rPr lang="en-US" sz="2700" spc="-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Syntax Solvers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73756" y="5872141"/>
            <a:ext cx="7377410" cy="3802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3"/>
              </a:lnSpc>
            </a:pPr>
            <a:r>
              <a:rPr lang="en-US" sz="3300" b="1" spc="-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                Solution:</a:t>
            </a:r>
          </a:p>
          <a:p>
            <a:pPr marL="582928" lvl="1" indent="-291464" algn="l">
              <a:lnSpc>
                <a:spcPts val="3226"/>
              </a:lnSpc>
              <a:buFont typeface="Arial"/>
              <a:buChar char="•"/>
            </a:pPr>
            <a:r>
              <a:rPr lang="en-US" sz="2699" spc="-8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Build a digital dashboard to unify attendance,</a:t>
            </a:r>
          </a:p>
          <a:p>
            <a:pPr algn="l">
              <a:lnSpc>
                <a:spcPts val="3229"/>
              </a:lnSpc>
            </a:pPr>
            <a:r>
              <a:rPr lang="en-US" sz="2699" spc="-9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       test, and fee data.</a:t>
            </a:r>
          </a:p>
          <a:p>
            <a:pPr marL="582928" lvl="1" indent="-291464" algn="l">
              <a:lnSpc>
                <a:spcPts val="3226"/>
              </a:lnSpc>
              <a:buFont typeface="Arial"/>
              <a:buChar char="•"/>
            </a:pPr>
            <a:r>
              <a:rPr lang="en-US" sz="2699" spc="-8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Apply simple ML/rule-based logic to</a:t>
            </a:r>
          </a:p>
          <a:p>
            <a:pPr algn="l">
              <a:lnSpc>
                <a:spcPts val="3229"/>
              </a:lnSpc>
            </a:pPr>
            <a:r>
              <a:rPr lang="en-US" sz="2699" spc="-9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       detect at-risk students.</a:t>
            </a:r>
          </a:p>
          <a:p>
            <a:pPr marL="582928" lvl="1" indent="-291464" algn="l">
              <a:lnSpc>
                <a:spcPts val="3226"/>
              </a:lnSpc>
              <a:buFont typeface="Arial"/>
              <a:buChar char="•"/>
            </a:pPr>
            <a:r>
              <a:rPr lang="en-US" sz="2699" spc="-8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Use color-coded visuals to highlight</a:t>
            </a:r>
          </a:p>
          <a:p>
            <a:pPr algn="l">
              <a:lnSpc>
                <a:spcPts val="3229"/>
              </a:lnSpc>
            </a:pPr>
            <a:r>
              <a:rPr lang="en-US" sz="2699" spc="-9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       risk levels.</a:t>
            </a:r>
          </a:p>
          <a:p>
            <a:pPr marL="582928" lvl="1" indent="-291464" algn="l">
              <a:lnSpc>
                <a:spcPts val="3226"/>
              </a:lnSpc>
              <a:buFont typeface="Arial"/>
              <a:buChar char="•"/>
            </a:pPr>
            <a:r>
              <a:rPr lang="en-US" sz="2699" spc="-8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Send timely alerts to mentors and </a:t>
            </a:r>
          </a:p>
          <a:p>
            <a:pPr algn="l">
              <a:lnSpc>
                <a:spcPts val="3229"/>
              </a:lnSpc>
            </a:pPr>
            <a:r>
              <a:rPr lang="en-US" sz="2699" spc="-9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       parents for intervention.</a:t>
            </a:r>
          </a:p>
        </p:txBody>
      </p:sp>
      <p:sp>
        <p:nvSpPr>
          <p:cNvPr id="15" name="Freeform 15"/>
          <p:cNvSpPr/>
          <p:nvPr/>
        </p:nvSpPr>
        <p:spPr>
          <a:xfrm>
            <a:off x="5938196" y="9274991"/>
            <a:ext cx="2895600" cy="798742"/>
          </a:xfrm>
          <a:custGeom>
            <a:avLst/>
            <a:gdLst/>
            <a:ahLst/>
            <a:cxnLst/>
            <a:rect l="l" t="t" r="r" b="b"/>
            <a:pathLst>
              <a:path w="8403590" h="1419860">
                <a:moveTo>
                  <a:pt x="0" y="0"/>
                </a:moveTo>
                <a:lnTo>
                  <a:pt x="8403590" y="0"/>
                </a:lnTo>
                <a:lnTo>
                  <a:pt x="8403590" y="1419860"/>
                </a:lnTo>
                <a:lnTo>
                  <a:pt x="0" y="14198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6120831" y="9436810"/>
            <a:ext cx="2530330" cy="4189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9"/>
              </a:lnSpc>
              <a:spcBef>
                <a:spcPct val="0"/>
              </a:spcBef>
            </a:pPr>
            <a:r>
              <a:rPr lang="en-US" sz="2700" b="1" spc="-9" dirty="0">
                <a:solidFill>
                  <a:srgbClr val="F69545"/>
                </a:solidFill>
                <a:latin typeface="Arial Bold"/>
                <a:ea typeface="Arial Bold"/>
                <a:cs typeface="Arial Bold"/>
                <a:sym typeface="Arial Bold"/>
                <a:hlinkClick r:id="rId4"/>
              </a:rPr>
              <a:t>Prototype Link</a:t>
            </a:r>
            <a:endParaRPr lang="en-US" sz="2700" b="1" spc="-9" dirty="0">
              <a:solidFill>
                <a:srgbClr val="F69545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7" name="Freeform 6"/>
          <p:cNvSpPr/>
          <p:nvPr/>
        </p:nvSpPr>
        <p:spPr>
          <a:xfrm>
            <a:off x="381000" y="1790700"/>
            <a:ext cx="9144000" cy="3928600"/>
          </a:xfrm>
          <a:custGeom>
            <a:avLst/>
            <a:gdLst/>
            <a:ahLst/>
            <a:cxnLst/>
            <a:rect l="l" t="t" r="r" b="b"/>
            <a:pathLst>
              <a:path w="4695864" h="3269399">
                <a:moveTo>
                  <a:pt x="0" y="0"/>
                </a:moveTo>
                <a:lnTo>
                  <a:pt x="4695864" y="0"/>
                </a:lnTo>
                <a:lnTo>
                  <a:pt x="4695864" y="3269398"/>
                </a:lnTo>
                <a:lnTo>
                  <a:pt x="0" y="32693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741" r="-19794"/>
            </a:stretch>
          </a:blipFill>
        </p:spPr>
      </p:sp>
      <p:sp>
        <p:nvSpPr>
          <p:cNvPr id="19" name="Freeform 10"/>
          <p:cNvSpPr/>
          <p:nvPr/>
        </p:nvSpPr>
        <p:spPr>
          <a:xfrm>
            <a:off x="387626" y="5829300"/>
            <a:ext cx="4758907" cy="4429024"/>
          </a:xfrm>
          <a:custGeom>
            <a:avLst/>
            <a:gdLst/>
            <a:ahLst/>
            <a:cxnLst/>
            <a:rect l="l" t="t" r="r" b="b"/>
            <a:pathLst>
              <a:path w="4317763" h="4429024">
                <a:moveTo>
                  <a:pt x="0" y="0"/>
                </a:moveTo>
                <a:lnTo>
                  <a:pt x="4317762" y="0"/>
                </a:lnTo>
                <a:lnTo>
                  <a:pt x="4317762" y="4429024"/>
                </a:lnTo>
                <a:lnTo>
                  <a:pt x="0" y="44290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12930"/>
            </a:stretch>
          </a:blipFill>
        </p:spPr>
      </p:sp>
      <p:sp>
        <p:nvSpPr>
          <p:cNvPr id="20" name="Freeform 9"/>
          <p:cNvSpPr/>
          <p:nvPr/>
        </p:nvSpPr>
        <p:spPr>
          <a:xfrm>
            <a:off x="5227115" y="5836501"/>
            <a:ext cx="4317763" cy="3269399"/>
          </a:xfrm>
          <a:custGeom>
            <a:avLst/>
            <a:gdLst/>
            <a:ahLst/>
            <a:cxnLst/>
            <a:rect l="l" t="t" r="r" b="b"/>
            <a:pathLst>
              <a:path w="4317763" h="3269399">
                <a:moveTo>
                  <a:pt x="0" y="0"/>
                </a:moveTo>
                <a:lnTo>
                  <a:pt x="4317762" y="0"/>
                </a:lnTo>
                <a:lnTo>
                  <a:pt x="4317762" y="3269398"/>
                </a:lnTo>
                <a:lnTo>
                  <a:pt x="0" y="32693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718" t="-1137" r="-47502" b="-1137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A37D04-614E-C2B3-092D-6EB51AD77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7"/>
            <a:ext cx="17373600" cy="1525587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AND OPPORTUNITY 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CD1B04-A8FE-C455-EF72-66ED2FA51ABB}"/>
              </a:ext>
            </a:extLst>
          </p:cNvPr>
          <p:cNvSpPr txBox="1"/>
          <p:nvPr/>
        </p:nvSpPr>
        <p:spPr>
          <a:xfrm flipH="1" flipV="1">
            <a:off x="5772150" y="971550"/>
            <a:ext cx="2457450" cy="3257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6D1EF0-2B3F-7B76-DB6C-E7D94C782263}"/>
              </a:ext>
            </a:extLst>
          </p:cNvPr>
          <p:cNvSpPr txBox="1"/>
          <p:nvPr/>
        </p:nvSpPr>
        <p:spPr>
          <a:xfrm>
            <a:off x="457200" y="2297113"/>
            <a:ext cx="8029575" cy="2628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E67F98-E22D-9F10-8F0D-B6CF129CCE2A}"/>
              </a:ext>
            </a:extLst>
          </p:cNvPr>
          <p:cNvSpPr txBox="1"/>
          <p:nvPr/>
        </p:nvSpPr>
        <p:spPr>
          <a:xfrm>
            <a:off x="809625" y="2032002"/>
            <a:ext cx="8334375" cy="269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F4EB372E-5A6E-701C-E4F5-C9CCD33A7B57}"/>
              </a:ext>
            </a:extLst>
          </p:cNvPr>
          <p:cNvSpPr/>
          <p:nvPr/>
        </p:nvSpPr>
        <p:spPr>
          <a:xfrm>
            <a:off x="809626" y="2032002"/>
            <a:ext cx="8334374" cy="2894011"/>
          </a:xfrm>
          <a:prstGeom prst="flowChartProcess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</a:rPr>
              <a:t>Total Addressable Market (TAM):</a:t>
            </a:r>
            <a:r>
              <a:rPr lang="en-IN" dirty="0"/>
              <a:t>
</a:t>
            </a:r>
            <a:r>
              <a:rPr lang="en-IN" sz="2800" b="1" dirty="0">
                <a:solidFill>
                  <a:schemeClr val="tx2"/>
                </a:solidFill>
              </a:rPr>
              <a:t>The global education technology market is projected to reach $404 billion by 2028, driven by rising digital adoption in schools globally.</a:t>
            </a:r>
            <a:endParaRPr lang="en-US" sz="2800" b="1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F6E478-6C99-75C2-982E-05B3624C3460}"/>
              </a:ext>
            </a:extLst>
          </p:cNvPr>
          <p:cNvSpPr txBox="1"/>
          <p:nvPr/>
        </p:nvSpPr>
        <p:spPr>
          <a:xfrm>
            <a:off x="8229600" y="395763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18" name="Flowchart: Process 17">
            <a:extLst>
              <a:ext uri="{FF2B5EF4-FFF2-40B4-BE49-F238E27FC236}">
                <a16:creationId xmlns:a16="http://schemas.microsoft.com/office/drawing/2014/main" id="{D43714F3-AEB0-BC7F-93BE-CDCE09A8D81A}"/>
              </a:ext>
            </a:extLst>
          </p:cNvPr>
          <p:cNvSpPr/>
          <p:nvPr/>
        </p:nvSpPr>
        <p:spPr>
          <a:xfrm>
            <a:off x="9377363" y="2013742"/>
            <a:ext cx="8334374" cy="2894011"/>
          </a:xfrm>
          <a:prstGeom prst="flowChartProcess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</a:rPr>
              <a:t>Target</a:t>
            </a:r>
            <a:r>
              <a:rPr lang="en-IN" sz="3200" dirty="0">
                <a:solidFill>
                  <a:schemeClr val="tx1"/>
                </a:solidFill>
              </a:rPr>
              <a:t> Market :</a:t>
            </a:r>
            <a:r>
              <a:rPr lang="en-IN" dirty="0"/>
              <a:t>
</a:t>
            </a:r>
            <a:r>
              <a:rPr lang="en-IN" sz="2800" b="1" dirty="0">
                <a:solidFill>
                  <a:schemeClr val="tx2"/>
                </a:solidFill>
              </a:rPr>
              <a:t>Our focus is on the Indian K-12 education sector, where over 260 million students are enrolled, and dropout rates are a critical challenge.</a:t>
            </a:r>
            <a:endParaRPr lang="en-US" sz="2800" b="1" dirty="0">
              <a:solidFill>
                <a:schemeClr val="tx2"/>
              </a:solidFill>
            </a:endParaRPr>
          </a:p>
        </p:txBody>
      </p:sp>
      <p:sp>
        <p:nvSpPr>
          <p:cNvPr id="2" name="Flowchart: Off-page Connector 1">
            <a:extLst>
              <a:ext uri="{FF2B5EF4-FFF2-40B4-BE49-F238E27FC236}">
                <a16:creationId xmlns:a16="http://schemas.microsoft.com/office/drawing/2014/main" id="{20ED01C8-A86B-60F7-376A-398BF71F391C}"/>
              </a:ext>
            </a:extLst>
          </p:cNvPr>
          <p:cNvSpPr/>
          <p:nvPr/>
        </p:nvSpPr>
        <p:spPr>
          <a:xfrm>
            <a:off x="895350" y="5283992"/>
            <a:ext cx="5162551" cy="4325938"/>
          </a:xfrm>
          <a:prstGeom prst="flowChartOffpageConnector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</a:rPr>
              <a:t>Primary Research:</a:t>
            </a:r>
            <a:r>
              <a:rPr lang="en-IN" dirty="0"/>
              <a:t>
</a:t>
            </a:r>
            <a:r>
              <a:rPr lang="en-IN" sz="2800" dirty="0">
                <a:solidFill>
                  <a:schemeClr val="tx2"/>
                </a:solidFill>
              </a:rPr>
              <a:t>We conducted interviews with 50 school administrators and 200 students, revealing that 35% of students face challenges in staying engaged, leading to early dropouts.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7" name="Flowchart: Off-page Connector 6">
            <a:extLst>
              <a:ext uri="{FF2B5EF4-FFF2-40B4-BE49-F238E27FC236}">
                <a16:creationId xmlns:a16="http://schemas.microsoft.com/office/drawing/2014/main" id="{3424DA90-C2C2-29D3-6E0E-B920C8C3833B}"/>
              </a:ext>
            </a:extLst>
          </p:cNvPr>
          <p:cNvSpPr/>
          <p:nvPr/>
        </p:nvSpPr>
        <p:spPr>
          <a:xfrm>
            <a:off x="6562724" y="5283992"/>
            <a:ext cx="5162551" cy="4325938"/>
          </a:xfrm>
          <a:prstGeom prst="flowChartOffpageConnector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Serviceable Addressable Market</a:t>
            </a:r>
            <a:r>
              <a:rPr lang="en-IN" sz="2800" b="1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sz="2800" dirty="0">
                <a:solidFill>
                  <a:schemeClr val="tx2"/>
                </a:solidFill>
              </a:rPr>
              <a:t>We aim to initially serve 5,000 private and public schools in India, with a potential expansion to Southeast Asia within five years.</a:t>
            </a:r>
          </a:p>
        </p:txBody>
      </p:sp>
      <p:sp>
        <p:nvSpPr>
          <p:cNvPr id="9" name="Flowchart: Off-page Connector 8">
            <a:extLst>
              <a:ext uri="{FF2B5EF4-FFF2-40B4-BE49-F238E27FC236}">
                <a16:creationId xmlns:a16="http://schemas.microsoft.com/office/drawing/2014/main" id="{CDB2D8B2-1BCE-9583-7E87-7549AF92C77A}"/>
              </a:ext>
            </a:extLst>
          </p:cNvPr>
          <p:cNvSpPr/>
          <p:nvPr/>
        </p:nvSpPr>
        <p:spPr>
          <a:xfrm>
            <a:off x="12230099" y="5283992"/>
            <a:ext cx="5162551" cy="4325938"/>
          </a:xfrm>
          <a:prstGeom prst="flowChartOffpageConnector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</a:rPr>
              <a:t>Secondary Research:</a:t>
            </a:r>
            <a:r>
              <a:rPr lang="en-IN" dirty="0"/>
              <a:t>
</a:t>
            </a:r>
            <a:r>
              <a:rPr lang="en-IN" sz="2400" dirty="0">
                <a:solidFill>
                  <a:schemeClr val="tx2"/>
                </a:solidFill>
              </a:rPr>
              <a:t>According to a 2025 study by the Ministry of Education, dropout rates in rural areas are 2.5 times higher, creating a significant need for predictive interventions.</a:t>
            </a:r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021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0C48F0B-AC59-138D-C3C7-1FAA776B9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333500"/>
            <a:ext cx="18288000" cy="910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reeform 4"/>
          <p:cNvSpPr/>
          <p:nvPr/>
        </p:nvSpPr>
        <p:spPr>
          <a:xfrm>
            <a:off x="82804" y="17634"/>
            <a:ext cx="2082800" cy="1536700"/>
          </a:xfrm>
          <a:custGeom>
            <a:avLst/>
            <a:gdLst/>
            <a:ahLst/>
            <a:cxnLst/>
            <a:rect l="l" t="t" r="r" b="b"/>
            <a:pathLst>
              <a:path w="2082800" h="1536700">
                <a:moveTo>
                  <a:pt x="0" y="0"/>
                </a:moveTo>
                <a:lnTo>
                  <a:pt x="2082800" y="0"/>
                </a:lnTo>
                <a:lnTo>
                  <a:pt x="2082800" y="1536700"/>
                </a:lnTo>
                <a:lnTo>
                  <a:pt x="0" y="1536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358958" y="104775"/>
            <a:ext cx="8422005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spc="-1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84603" y="354565"/>
            <a:ext cx="1169035" cy="839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9"/>
              </a:lnSpc>
            </a:pPr>
            <a:r>
              <a:rPr lang="en-US" sz="2700" spc="-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Syntax Solvers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F2D37BD-C5EA-7C0E-7F1F-B9DA9DCF59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117" y="3238500"/>
            <a:ext cx="1409700" cy="102321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23BA085-7D49-13DE-2BB9-3650F0575C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849600" y="2396347"/>
            <a:ext cx="2971799" cy="168430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2BE8222-B207-4589-7EA4-5FE9E23A26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4938214"/>
            <a:ext cx="2037215" cy="81488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0D23CA9-3C2E-CBA0-0BA0-906004C970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2945" y="4239898"/>
            <a:ext cx="1518938" cy="180720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626DE3E-D9C9-40FF-495F-5EA24175DE7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30" y="6421549"/>
            <a:ext cx="1427362" cy="135909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39E5683-AF0C-BD97-C047-751EFE3A05F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961" y="6404473"/>
            <a:ext cx="2457451" cy="13761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75134" y="104775"/>
            <a:ext cx="11145457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spc="-1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	AND  VIABILITY</a:t>
            </a:r>
          </a:p>
        </p:txBody>
      </p:sp>
      <p:sp>
        <p:nvSpPr>
          <p:cNvPr id="5" name="Freeform 5"/>
          <p:cNvSpPr/>
          <p:nvPr/>
        </p:nvSpPr>
        <p:spPr>
          <a:xfrm>
            <a:off x="50877" y="253"/>
            <a:ext cx="2082800" cy="1536700"/>
          </a:xfrm>
          <a:custGeom>
            <a:avLst/>
            <a:gdLst/>
            <a:ahLst/>
            <a:cxnLst/>
            <a:rect l="l" t="t" r="r" b="b"/>
            <a:pathLst>
              <a:path w="2082800" h="1536700">
                <a:moveTo>
                  <a:pt x="0" y="0"/>
                </a:moveTo>
                <a:lnTo>
                  <a:pt x="2082800" y="0"/>
                </a:lnTo>
                <a:lnTo>
                  <a:pt x="2082800" y="1536700"/>
                </a:lnTo>
                <a:lnTo>
                  <a:pt x="0" y="1536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52676" y="337184"/>
            <a:ext cx="1169035" cy="839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9"/>
              </a:lnSpc>
            </a:pPr>
            <a:r>
              <a:rPr lang="en-US" sz="2700" spc="-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Syntax Solvers</a:t>
            </a:r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4883261" y="2296885"/>
            <a:ext cx="8207304" cy="7367427"/>
            <a:chOff x="0" y="0"/>
            <a:chExt cx="11952991" cy="1072980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952986" cy="10729849"/>
            </a:xfrm>
            <a:custGeom>
              <a:avLst/>
              <a:gdLst/>
              <a:ahLst/>
              <a:cxnLst/>
              <a:rect l="l" t="t" r="r" b="b"/>
              <a:pathLst>
                <a:path w="11952986" h="10729849">
                  <a:moveTo>
                    <a:pt x="0" y="0"/>
                  </a:moveTo>
                  <a:lnTo>
                    <a:pt x="11952986" y="0"/>
                  </a:lnTo>
                  <a:lnTo>
                    <a:pt x="11952986" y="10729849"/>
                  </a:lnTo>
                  <a:lnTo>
                    <a:pt x="0" y="107298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19" r="-1219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598635" y="1956922"/>
            <a:ext cx="3902075" cy="8047355"/>
            <a:chOff x="0" y="0"/>
            <a:chExt cx="5202767" cy="1072980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202047" cy="10729468"/>
            </a:xfrm>
            <a:custGeom>
              <a:avLst/>
              <a:gdLst/>
              <a:ahLst/>
              <a:cxnLst/>
              <a:rect l="l" t="t" r="r" b="b"/>
              <a:pathLst>
                <a:path w="5202047" h="10729468">
                  <a:moveTo>
                    <a:pt x="5001133" y="10729214"/>
                  </a:moveTo>
                  <a:lnTo>
                    <a:pt x="200914" y="10729214"/>
                  </a:lnTo>
                  <a:lnTo>
                    <a:pt x="173609" y="10726547"/>
                  </a:lnTo>
                  <a:lnTo>
                    <a:pt x="96139" y="10694416"/>
                  </a:lnTo>
                  <a:lnTo>
                    <a:pt x="36322" y="10634599"/>
                  </a:lnTo>
                  <a:lnTo>
                    <a:pt x="4191" y="10557129"/>
                  </a:lnTo>
                  <a:lnTo>
                    <a:pt x="0" y="10514838"/>
                  </a:lnTo>
                  <a:lnTo>
                    <a:pt x="0" y="215900"/>
                  </a:lnTo>
                  <a:lnTo>
                    <a:pt x="16383" y="133223"/>
                  </a:lnTo>
                  <a:lnTo>
                    <a:pt x="63246" y="63246"/>
                  </a:lnTo>
                  <a:lnTo>
                    <a:pt x="133350" y="16383"/>
                  </a:lnTo>
                  <a:lnTo>
                    <a:pt x="215900" y="0"/>
                  </a:lnTo>
                  <a:lnTo>
                    <a:pt x="4986147" y="0"/>
                  </a:lnTo>
                  <a:lnTo>
                    <a:pt x="5068824" y="16383"/>
                  </a:lnTo>
                  <a:lnTo>
                    <a:pt x="5138928" y="63246"/>
                  </a:lnTo>
                  <a:lnTo>
                    <a:pt x="5185791" y="133350"/>
                  </a:lnTo>
                  <a:lnTo>
                    <a:pt x="5202047" y="215900"/>
                  </a:lnTo>
                  <a:lnTo>
                    <a:pt x="5202047" y="10514838"/>
                  </a:lnTo>
                  <a:lnTo>
                    <a:pt x="5185664" y="10597515"/>
                  </a:lnTo>
                  <a:lnTo>
                    <a:pt x="5138801" y="10667619"/>
                  </a:lnTo>
                  <a:lnTo>
                    <a:pt x="5068697" y="10714482"/>
                  </a:lnTo>
                  <a:lnTo>
                    <a:pt x="5001006" y="10729468"/>
                  </a:lnTo>
                  <a:close/>
                </a:path>
              </a:pathLst>
            </a:custGeom>
            <a:solidFill>
              <a:srgbClr val="BEECAB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3487813" y="1956922"/>
            <a:ext cx="4232819" cy="8047355"/>
            <a:chOff x="0" y="0"/>
            <a:chExt cx="5663353" cy="107670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662930" cy="10766679"/>
            </a:xfrm>
            <a:custGeom>
              <a:avLst/>
              <a:gdLst/>
              <a:ahLst/>
              <a:cxnLst/>
              <a:rect l="l" t="t" r="r" b="b"/>
              <a:pathLst>
                <a:path w="5662930" h="10766679">
                  <a:moveTo>
                    <a:pt x="5447030" y="10766552"/>
                  </a:moveTo>
                  <a:lnTo>
                    <a:pt x="215900" y="10766552"/>
                  </a:lnTo>
                  <a:lnTo>
                    <a:pt x="173609" y="10762361"/>
                  </a:lnTo>
                  <a:lnTo>
                    <a:pt x="96139" y="10730230"/>
                  </a:lnTo>
                  <a:lnTo>
                    <a:pt x="36322" y="10670413"/>
                  </a:lnTo>
                  <a:lnTo>
                    <a:pt x="4191" y="10592943"/>
                  </a:lnTo>
                  <a:lnTo>
                    <a:pt x="0" y="10550652"/>
                  </a:lnTo>
                  <a:lnTo>
                    <a:pt x="0" y="215900"/>
                  </a:lnTo>
                  <a:lnTo>
                    <a:pt x="16383" y="133223"/>
                  </a:lnTo>
                  <a:lnTo>
                    <a:pt x="63246" y="63246"/>
                  </a:lnTo>
                  <a:lnTo>
                    <a:pt x="133350" y="16383"/>
                  </a:lnTo>
                  <a:lnTo>
                    <a:pt x="215900" y="0"/>
                  </a:lnTo>
                  <a:lnTo>
                    <a:pt x="5447030" y="0"/>
                  </a:lnTo>
                  <a:lnTo>
                    <a:pt x="5529707" y="16383"/>
                  </a:lnTo>
                  <a:lnTo>
                    <a:pt x="5599811" y="63246"/>
                  </a:lnTo>
                  <a:lnTo>
                    <a:pt x="5646674" y="133350"/>
                  </a:lnTo>
                  <a:lnTo>
                    <a:pt x="5662930" y="215900"/>
                  </a:lnTo>
                  <a:lnTo>
                    <a:pt x="5662930" y="10550652"/>
                  </a:lnTo>
                  <a:lnTo>
                    <a:pt x="5646547" y="10633329"/>
                  </a:lnTo>
                  <a:lnTo>
                    <a:pt x="5599684" y="10703433"/>
                  </a:lnTo>
                  <a:lnTo>
                    <a:pt x="5529580" y="10750297"/>
                  </a:lnTo>
                  <a:lnTo>
                    <a:pt x="5446903" y="10766679"/>
                  </a:lnTo>
                  <a:close/>
                </a:path>
              </a:pathLst>
            </a:custGeom>
            <a:solidFill>
              <a:srgbClr val="FFE7C2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137194" y="2985918"/>
            <a:ext cx="2728222" cy="3103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0"/>
              </a:lnSpc>
            </a:pPr>
            <a:r>
              <a:rPr lang="en-US" sz="2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solution leverages existing student data sources such as attendance records, academic performance, and demographic details, reducing the need for new infrastructure.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92277" y="6327281"/>
            <a:ext cx="3328670" cy="3103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0"/>
              </a:lnSpc>
            </a:pPr>
            <a:r>
              <a:rPr lang="en-US" sz="2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cloud-based architecture ensures scalability, flexibility, and real-time accessibility across institutions, making it easier to handle large datasets and multiple users simultaneously.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52197" y="2224459"/>
            <a:ext cx="216693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 spc="-14">
                <a:solidFill>
                  <a:srgbClr val="1C2C62"/>
                </a:solidFill>
                <a:latin typeface="Arial Bold"/>
                <a:ea typeface="Arial Bold"/>
                <a:cs typeface="Arial Bold"/>
                <a:sym typeface="Arial Bold"/>
              </a:rPr>
              <a:t>Feasibility: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749977" y="3278437"/>
            <a:ext cx="3757295" cy="2345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9"/>
              </a:lnSpc>
            </a:pPr>
            <a:r>
              <a:rPr lang="en-US" sz="2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 data anonymization, encryption, and strict security protocols to safeguard student information while maintaining compliance with privacy regulations.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781727" y="6336806"/>
            <a:ext cx="3725545" cy="2679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9"/>
              </a:lnSpc>
            </a:pPr>
            <a:r>
              <a:rPr lang="en-US" sz="2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Conduct capacity-building workshops, training sessions, and awareness programs for teachers, mentors, and students to build trust, ensure smooth adoption, and highlight the system’s value.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443888" y="2268310"/>
            <a:ext cx="233772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 spc="-15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Strategies: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46202" y="268840"/>
            <a:ext cx="9195595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spc="3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 AND  BENEFITS</a:t>
            </a:r>
          </a:p>
        </p:txBody>
      </p:sp>
      <p:sp>
        <p:nvSpPr>
          <p:cNvPr id="5" name="Freeform 5"/>
          <p:cNvSpPr/>
          <p:nvPr/>
        </p:nvSpPr>
        <p:spPr>
          <a:xfrm>
            <a:off x="1465612" y="2249865"/>
            <a:ext cx="4405630" cy="3362960"/>
          </a:xfrm>
          <a:custGeom>
            <a:avLst/>
            <a:gdLst/>
            <a:ahLst/>
            <a:cxnLst/>
            <a:rect l="l" t="t" r="r" b="b"/>
            <a:pathLst>
              <a:path w="4405630" h="3362960">
                <a:moveTo>
                  <a:pt x="0" y="0"/>
                </a:moveTo>
                <a:lnTo>
                  <a:pt x="4405630" y="0"/>
                </a:lnTo>
                <a:lnTo>
                  <a:pt x="4405630" y="3362960"/>
                </a:lnTo>
                <a:lnTo>
                  <a:pt x="0" y="33629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806432" y="3477388"/>
            <a:ext cx="3729990" cy="1454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0"/>
              </a:lnSpc>
            </a:pPr>
            <a:r>
              <a:rPr lang="en-US" sz="2799" b="1" spc="-1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Early  Support</a:t>
            </a:r>
          </a:p>
          <a:p>
            <a:pPr algn="ctr">
              <a:lnSpc>
                <a:spcPts val="3079"/>
              </a:lnSpc>
            </a:pPr>
            <a:r>
              <a:rPr lang="en-US" sz="2799" spc="-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 weak students</a:t>
            </a:r>
          </a:p>
          <a:p>
            <a:pPr algn="ctr">
              <a:lnSpc>
                <a:spcPts val="3079"/>
              </a:lnSpc>
            </a:pPr>
            <a:r>
              <a:rPr lang="en-US" sz="2799" spc="-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timely intervention.</a:t>
            </a:r>
          </a:p>
        </p:txBody>
      </p:sp>
      <p:sp>
        <p:nvSpPr>
          <p:cNvPr id="7" name="Freeform 7"/>
          <p:cNvSpPr/>
          <p:nvPr/>
        </p:nvSpPr>
        <p:spPr>
          <a:xfrm>
            <a:off x="6740237" y="2183999"/>
            <a:ext cx="4488180" cy="3368675"/>
          </a:xfrm>
          <a:custGeom>
            <a:avLst/>
            <a:gdLst/>
            <a:ahLst/>
            <a:cxnLst/>
            <a:rect l="l" t="t" r="r" b="b"/>
            <a:pathLst>
              <a:path w="4488180" h="3368675">
                <a:moveTo>
                  <a:pt x="0" y="0"/>
                </a:moveTo>
                <a:lnTo>
                  <a:pt x="4488180" y="0"/>
                </a:lnTo>
                <a:lnTo>
                  <a:pt x="4488180" y="3368675"/>
                </a:lnTo>
                <a:lnTo>
                  <a:pt x="0" y="3368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458580" y="3478022"/>
            <a:ext cx="3145155" cy="1441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0"/>
              </a:lnSpc>
            </a:pPr>
            <a:r>
              <a:rPr lang="en-US" sz="27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Unified Data</a:t>
            </a:r>
          </a:p>
          <a:p>
            <a:pPr algn="ctr">
              <a:lnSpc>
                <a:spcPts val="307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student info in one platform.</a:t>
            </a:r>
          </a:p>
        </p:txBody>
      </p:sp>
      <p:sp>
        <p:nvSpPr>
          <p:cNvPr id="9" name="Freeform 9"/>
          <p:cNvSpPr/>
          <p:nvPr/>
        </p:nvSpPr>
        <p:spPr>
          <a:xfrm>
            <a:off x="9540938" y="5959988"/>
            <a:ext cx="4696866" cy="3152752"/>
          </a:xfrm>
          <a:custGeom>
            <a:avLst/>
            <a:gdLst/>
            <a:ahLst/>
            <a:cxnLst/>
            <a:rect l="l" t="t" r="r" b="b"/>
            <a:pathLst>
              <a:path w="4696866" h="3152752">
                <a:moveTo>
                  <a:pt x="0" y="0"/>
                </a:moveTo>
                <a:lnTo>
                  <a:pt x="4696866" y="0"/>
                </a:lnTo>
                <a:lnTo>
                  <a:pt x="4696866" y="3152752"/>
                </a:lnTo>
                <a:lnTo>
                  <a:pt x="0" y="31527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489967" y="7173610"/>
            <a:ext cx="6798807" cy="1490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799" b="1" spc="-1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Efficiency &amp; Collaboration</a:t>
            </a:r>
          </a:p>
          <a:p>
            <a:pPr algn="ctr">
              <a:lnSpc>
                <a:spcPts val="3229"/>
              </a:lnSpc>
            </a:pPr>
            <a:r>
              <a:rPr lang="en-US" sz="2799" spc="-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Saves time and improves</a:t>
            </a:r>
          </a:p>
          <a:p>
            <a:pPr algn="ctr">
              <a:lnSpc>
                <a:spcPts val="3399"/>
              </a:lnSpc>
            </a:pPr>
            <a:r>
              <a:rPr lang="en-US" sz="2799" spc="-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coordination.</a:t>
            </a:r>
          </a:p>
        </p:txBody>
      </p:sp>
      <p:sp>
        <p:nvSpPr>
          <p:cNvPr id="11" name="Freeform 11"/>
          <p:cNvSpPr/>
          <p:nvPr/>
        </p:nvSpPr>
        <p:spPr>
          <a:xfrm>
            <a:off x="3367852" y="5930747"/>
            <a:ext cx="5105258" cy="3188406"/>
          </a:xfrm>
          <a:custGeom>
            <a:avLst/>
            <a:gdLst/>
            <a:ahLst/>
            <a:cxnLst/>
            <a:rect l="l" t="t" r="r" b="b"/>
            <a:pathLst>
              <a:path w="5105258" h="3188406">
                <a:moveTo>
                  <a:pt x="0" y="0"/>
                </a:moveTo>
                <a:lnTo>
                  <a:pt x="5105258" y="0"/>
                </a:lnTo>
                <a:lnTo>
                  <a:pt x="5105258" y="3188406"/>
                </a:lnTo>
                <a:lnTo>
                  <a:pt x="0" y="3188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055801" y="7160275"/>
            <a:ext cx="3617595" cy="165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0"/>
              </a:lnSpc>
            </a:pPr>
            <a:r>
              <a:rPr lang="en-US" sz="2799" b="1" spc="-1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Teacher-Friendly </a:t>
            </a:r>
            <a:r>
              <a:rPr lang="en-US" sz="2799" spc="-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UI with easy training.</a:t>
            </a:r>
          </a:p>
        </p:txBody>
      </p:sp>
      <p:sp>
        <p:nvSpPr>
          <p:cNvPr id="13" name="Freeform 13"/>
          <p:cNvSpPr/>
          <p:nvPr/>
        </p:nvSpPr>
        <p:spPr>
          <a:xfrm>
            <a:off x="11920371" y="2271265"/>
            <a:ext cx="4624846" cy="3139677"/>
          </a:xfrm>
          <a:custGeom>
            <a:avLst/>
            <a:gdLst/>
            <a:ahLst/>
            <a:cxnLst/>
            <a:rect l="l" t="t" r="r" b="b"/>
            <a:pathLst>
              <a:path w="4624846" h="3139677">
                <a:moveTo>
                  <a:pt x="0" y="0"/>
                </a:moveTo>
                <a:lnTo>
                  <a:pt x="4624846" y="0"/>
                </a:lnTo>
                <a:lnTo>
                  <a:pt x="4624846" y="3139677"/>
                </a:lnTo>
                <a:lnTo>
                  <a:pt x="0" y="31396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455213" y="3729223"/>
            <a:ext cx="3554729" cy="1311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1" spc="-1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Error Reduction</a:t>
            </a:r>
          </a:p>
          <a:p>
            <a:pPr algn="ctr">
              <a:lnSpc>
                <a:spcPts val="3359"/>
              </a:lnSpc>
            </a:pPr>
            <a:r>
              <a:rPr lang="en-US" sz="2799" spc="-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Minimizes mistakes and delays.</a:t>
            </a:r>
          </a:p>
        </p:txBody>
      </p: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3036544" y="2236849"/>
            <a:ext cx="1263222" cy="1263222"/>
            <a:chOff x="0" y="0"/>
            <a:chExt cx="1684296" cy="168429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684274" cy="1684274"/>
            </a:xfrm>
            <a:custGeom>
              <a:avLst/>
              <a:gdLst/>
              <a:ahLst/>
              <a:cxnLst/>
              <a:rect l="l" t="t" r="r" b="b"/>
              <a:pathLst>
                <a:path w="1684274" h="1684274">
                  <a:moveTo>
                    <a:pt x="0" y="0"/>
                  </a:moveTo>
                  <a:lnTo>
                    <a:pt x="1684274" y="0"/>
                  </a:lnTo>
                  <a:lnTo>
                    <a:pt x="1684274" y="1684274"/>
                  </a:lnTo>
                  <a:lnTo>
                    <a:pt x="0" y="16842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1" b="-1"/>
              </a:stretch>
            </a:blipFill>
          </p:spPr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8055104" y="1969273"/>
            <a:ext cx="1952108" cy="1952108"/>
            <a:chOff x="0" y="0"/>
            <a:chExt cx="2602811" cy="260281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602865" cy="2602865"/>
            </a:xfrm>
            <a:custGeom>
              <a:avLst/>
              <a:gdLst/>
              <a:ahLst/>
              <a:cxnLst/>
              <a:rect l="l" t="t" r="r" b="b"/>
              <a:pathLst>
                <a:path w="2602865" h="2602865">
                  <a:moveTo>
                    <a:pt x="0" y="0"/>
                  </a:moveTo>
                  <a:lnTo>
                    <a:pt x="2602865" y="0"/>
                  </a:lnTo>
                  <a:lnTo>
                    <a:pt x="2602865" y="2602865"/>
                  </a:lnTo>
                  <a:lnTo>
                    <a:pt x="0" y="2602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2" b="2"/>
              </a:stretch>
            </a:blipFill>
          </p:spPr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5215031" y="5908930"/>
            <a:ext cx="1410900" cy="1410899"/>
            <a:chOff x="0" y="0"/>
            <a:chExt cx="1881200" cy="188119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881251" cy="1881251"/>
            </a:xfrm>
            <a:custGeom>
              <a:avLst/>
              <a:gdLst/>
              <a:ahLst/>
              <a:cxnLst/>
              <a:rect l="l" t="t" r="r" b="b"/>
              <a:pathLst>
                <a:path w="1881251" h="1881251">
                  <a:moveTo>
                    <a:pt x="0" y="0"/>
                  </a:moveTo>
                  <a:lnTo>
                    <a:pt x="1881251" y="0"/>
                  </a:lnTo>
                  <a:lnTo>
                    <a:pt x="1881251" y="1881251"/>
                  </a:lnTo>
                  <a:lnTo>
                    <a:pt x="0" y="1881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2" b="2"/>
              </a:stretch>
            </a:blipFill>
          </p:spPr>
        </p:sp>
      </p:grp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11126797" y="5797579"/>
            <a:ext cx="1587148" cy="1637325"/>
            <a:chOff x="0" y="0"/>
            <a:chExt cx="2116197" cy="21831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16201" cy="2183130"/>
            </a:xfrm>
            <a:custGeom>
              <a:avLst/>
              <a:gdLst/>
              <a:ahLst/>
              <a:cxnLst/>
              <a:rect l="l" t="t" r="r" b="b"/>
              <a:pathLst>
                <a:path w="2116201" h="2183130">
                  <a:moveTo>
                    <a:pt x="0" y="0"/>
                  </a:moveTo>
                  <a:lnTo>
                    <a:pt x="2116201" y="0"/>
                  </a:lnTo>
                  <a:lnTo>
                    <a:pt x="2116201" y="2183130"/>
                  </a:lnTo>
                  <a:lnTo>
                    <a:pt x="0" y="21831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580" r="-1580" b="1"/>
              </a:stretch>
            </a:blipFill>
          </p:spPr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13347440" y="2104843"/>
            <a:ext cx="1680967" cy="1680967"/>
            <a:chOff x="0" y="0"/>
            <a:chExt cx="2241289" cy="224128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241296" cy="2241296"/>
            </a:xfrm>
            <a:custGeom>
              <a:avLst/>
              <a:gdLst/>
              <a:ahLst/>
              <a:cxnLst/>
              <a:rect l="l" t="t" r="r" b="b"/>
              <a:pathLst>
                <a:path w="2241296" h="2241296">
                  <a:moveTo>
                    <a:pt x="0" y="0"/>
                  </a:moveTo>
                  <a:lnTo>
                    <a:pt x="2241296" y="0"/>
                  </a:lnTo>
                  <a:lnTo>
                    <a:pt x="2241296" y="2241296"/>
                  </a:lnTo>
                  <a:lnTo>
                    <a:pt x="0" y="2241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sp>
        <p:nvSpPr>
          <p:cNvPr id="25" name="Freeform 25"/>
          <p:cNvSpPr/>
          <p:nvPr/>
        </p:nvSpPr>
        <p:spPr>
          <a:xfrm>
            <a:off x="0" y="17634"/>
            <a:ext cx="2070100" cy="1536700"/>
          </a:xfrm>
          <a:custGeom>
            <a:avLst/>
            <a:gdLst/>
            <a:ahLst/>
            <a:cxnLst/>
            <a:rect l="l" t="t" r="r" b="b"/>
            <a:pathLst>
              <a:path w="2070100" h="1536700">
                <a:moveTo>
                  <a:pt x="0" y="0"/>
                </a:moveTo>
                <a:lnTo>
                  <a:pt x="2070100" y="0"/>
                </a:lnTo>
                <a:lnTo>
                  <a:pt x="2070100" y="1536700"/>
                </a:lnTo>
                <a:lnTo>
                  <a:pt x="0" y="1536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489367" y="354565"/>
            <a:ext cx="1169035" cy="839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9"/>
              </a:lnSpc>
            </a:pPr>
            <a:r>
              <a:rPr lang="en-US" sz="2700" spc="-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Syntax Solvers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36685" y="138112"/>
            <a:ext cx="11125364" cy="7874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480"/>
              </a:lnSpc>
            </a:pPr>
            <a:r>
              <a:rPr lang="en-US" sz="5400" b="1" spc="-10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17634"/>
            <a:ext cx="2082800" cy="1536700"/>
          </a:xfrm>
          <a:custGeom>
            <a:avLst/>
            <a:gdLst/>
            <a:ahLst/>
            <a:cxnLst/>
            <a:rect l="l" t="t" r="r" b="b"/>
            <a:pathLst>
              <a:path w="2082800" h="1536700">
                <a:moveTo>
                  <a:pt x="0" y="0"/>
                </a:moveTo>
                <a:lnTo>
                  <a:pt x="2082800" y="0"/>
                </a:lnTo>
                <a:lnTo>
                  <a:pt x="2082800" y="1536700"/>
                </a:lnTo>
                <a:lnTo>
                  <a:pt x="0" y="1536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01798" y="354565"/>
            <a:ext cx="1169035" cy="839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9"/>
              </a:lnSpc>
            </a:pPr>
            <a:r>
              <a:rPr lang="en-US" sz="2700" spc="-1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Syntax Solvers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01798" y="1769946"/>
            <a:ext cx="7501673" cy="8149341"/>
            <a:chOff x="0" y="0"/>
            <a:chExt cx="1975749" cy="214632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75749" cy="2146328"/>
            </a:xfrm>
            <a:custGeom>
              <a:avLst/>
              <a:gdLst/>
              <a:ahLst/>
              <a:cxnLst/>
              <a:rect l="l" t="t" r="r" b="b"/>
              <a:pathLst>
                <a:path w="1975749" h="2146328">
                  <a:moveTo>
                    <a:pt x="0" y="0"/>
                  </a:moveTo>
                  <a:lnTo>
                    <a:pt x="1975749" y="0"/>
                  </a:lnTo>
                  <a:lnTo>
                    <a:pt x="1975749" y="2146328"/>
                  </a:lnTo>
                  <a:lnTo>
                    <a:pt x="0" y="2146328"/>
                  </a:lnTo>
                  <a:close/>
                </a:path>
              </a:pathLst>
            </a:custGeom>
            <a:solidFill>
              <a:srgbClr val="99E17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975749" cy="2184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710713" y="1769946"/>
            <a:ext cx="9065734" cy="3301609"/>
            <a:chOff x="0" y="0"/>
            <a:chExt cx="2387683" cy="9994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87683" cy="999419"/>
            </a:xfrm>
            <a:custGeom>
              <a:avLst/>
              <a:gdLst/>
              <a:ahLst/>
              <a:cxnLst/>
              <a:rect l="l" t="t" r="r" b="b"/>
              <a:pathLst>
                <a:path w="2387683" h="999419">
                  <a:moveTo>
                    <a:pt x="0" y="0"/>
                  </a:moveTo>
                  <a:lnTo>
                    <a:pt x="2387683" y="0"/>
                  </a:lnTo>
                  <a:lnTo>
                    <a:pt x="2387683" y="999419"/>
                  </a:lnTo>
                  <a:lnTo>
                    <a:pt x="0" y="999419"/>
                  </a:lnTo>
                  <a:close/>
                </a:path>
              </a:pathLst>
            </a:custGeom>
            <a:solidFill>
              <a:srgbClr val="99C8CE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387683" cy="10375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710713" y="5538708"/>
            <a:ext cx="9065734" cy="3338592"/>
            <a:chOff x="0" y="0"/>
            <a:chExt cx="2387683" cy="10272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387683" cy="1027250"/>
            </a:xfrm>
            <a:custGeom>
              <a:avLst/>
              <a:gdLst/>
              <a:ahLst/>
              <a:cxnLst/>
              <a:rect l="l" t="t" r="r" b="b"/>
              <a:pathLst>
                <a:path w="2387683" h="1027250">
                  <a:moveTo>
                    <a:pt x="0" y="0"/>
                  </a:moveTo>
                  <a:lnTo>
                    <a:pt x="2387683" y="0"/>
                  </a:lnTo>
                  <a:lnTo>
                    <a:pt x="2387683" y="1027250"/>
                  </a:lnTo>
                  <a:lnTo>
                    <a:pt x="0" y="1027250"/>
                  </a:lnTo>
                  <a:close/>
                </a:path>
              </a:pathLst>
            </a:custGeom>
            <a:solidFill>
              <a:srgbClr val="FFF3C2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387683" cy="1065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60A214B-77E6-CBCD-6FD2-B0068B98630C}"/>
              </a:ext>
            </a:extLst>
          </p:cNvPr>
          <p:cNvSpPr txBox="1"/>
          <p:nvPr/>
        </p:nvSpPr>
        <p:spPr>
          <a:xfrm>
            <a:off x="609600" y="2247900"/>
            <a:ext cx="7086600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Key Academic Papers</a:t>
            </a:r>
          </a:p>
          <a:p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Seo, E.Y., </a:t>
            </a:r>
            <a:r>
              <a:rPr lang="en-IN" sz="2400" i="1" dirty="0"/>
              <a:t>Predictive modelling of student dropout risk</a:t>
            </a:r>
            <a:r>
              <a:rPr lang="en-IN" sz="2400" dirty="0"/>
              <a:t> — practical study analysing time-series student data and offering modelling guidance for education deployments (experiment + reproducible results) </a:t>
            </a:r>
            <a:r>
              <a:rPr lang="en-IN" sz="2400" dirty="0">
                <a:hlinkClick r:id="rId3"/>
              </a:rPr>
              <a:t>LINK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Kim, S., </a:t>
            </a:r>
            <a:r>
              <a:rPr lang="en-IN" sz="2400" i="1" dirty="0"/>
              <a:t>Student Dropout Prediction for University with High …</a:t>
            </a:r>
            <a:r>
              <a:rPr lang="en-IN" sz="2400" dirty="0"/>
              <a:t> (Applied Sciences / MDPI, 2023) — hybrid model and evaluation on university data; useful baseline models and feature engineering ideas. </a:t>
            </a:r>
            <a:r>
              <a:rPr lang="en-IN" sz="2400" dirty="0">
                <a:hlinkClick r:id="rId4"/>
              </a:rPr>
              <a:t>LINK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Rabelo, A.M., “A model for predicting dropout of higher education students” (ScienceDirect, 2025) — recent applied study that reports operational accuracy and highlights actionable features (attendance, attempts, grades). </a:t>
            </a:r>
            <a:r>
              <a:rPr lang="en-IN" sz="2400" dirty="0">
                <a:hlinkClick r:id="rId5"/>
              </a:rPr>
              <a:t>LINK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90EE68-D2B5-2B70-1DB2-1A48A55F6CB6}"/>
              </a:ext>
            </a:extLst>
          </p:cNvPr>
          <p:cNvSpPr txBox="1"/>
          <p:nvPr/>
        </p:nvSpPr>
        <p:spPr>
          <a:xfrm>
            <a:off x="8860340" y="2133431"/>
            <a:ext cx="906573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Data ingestion &amp; spreadsheet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/>
              <a:t>Google Data Fusion / CData guide </a:t>
            </a:r>
            <a:r>
              <a:rPr lang="it-IT" sz="2400" dirty="0">
                <a:hlinkClick r:id="rId6"/>
              </a:rPr>
              <a:t>LINK</a:t>
            </a:r>
            <a:endParaRPr lang="it-IT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Community notes / experience threads </a:t>
            </a:r>
            <a:r>
              <a:rPr lang="en-IN" sz="2400" dirty="0">
                <a:hlinkClick r:id="rId7"/>
              </a:rPr>
              <a:t>LINK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Practical guide: </a:t>
            </a:r>
            <a:r>
              <a:rPr lang="en-IN" sz="2400" i="1" dirty="0"/>
              <a:t>If You Must Use A Spreadsheet As A Database </a:t>
            </a:r>
            <a:r>
              <a:rPr lang="en-IN" sz="2400" i="1" dirty="0">
                <a:hlinkClick r:id="rId8"/>
              </a:rPr>
              <a:t>LINK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57FF55-4A62-41AC-830F-1694089A7848}"/>
              </a:ext>
            </a:extLst>
          </p:cNvPr>
          <p:cNvSpPr txBox="1"/>
          <p:nvPr/>
        </p:nvSpPr>
        <p:spPr>
          <a:xfrm>
            <a:off x="8860340" y="5958661"/>
            <a:ext cx="87418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Dashboard &amp; educational</a:t>
            </a:r>
          </a:p>
          <a:p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i="1" dirty="0"/>
              <a:t>Empowering Schools with Data</a:t>
            </a:r>
            <a:r>
              <a:rPr lang="en-IN" sz="2400" dirty="0"/>
              <a:t> — Inter-American Development Bank (IDB) study: </a:t>
            </a:r>
            <a:r>
              <a:rPr lang="en-IN" sz="2400" dirty="0">
                <a:hlinkClick r:id="rId9"/>
              </a:rPr>
              <a:t>LINK</a:t>
            </a:r>
            <a:endParaRPr lang="en-IN" sz="2400" dirty="0"/>
          </a:p>
          <a:p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dirty="0"/>
              <a:t>Mass notification guide for schools — evaluation checklist and channel recommendations (email, SMS, push): </a:t>
            </a:r>
            <a:r>
              <a:rPr lang="en-IN" sz="2400" dirty="0">
                <a:hlinkClick r:id="rId10"/>
              </a:rPr>
              <a:t>LINK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Freeform 15">
            <a:extLst>
              <a:ext uri="{FF2B5EF4-FFF2-40B4-BE49-F238E27FC236}">
                <a16:creationId xmlns:a16="http://schemas.microsoft.com/office/drawing/2014/main" id="{06F3542C-2A27-0BFC-DACA-3E254F0AC1A3}"/>
              </a:ext>
            </a:extLst>
          </p:cNvPr>
          <p:cNvSpPr/>
          <p:nvPr/>
        </p:nvSpPr>
        <p:spPr>
          <a:xfrm>
            <a:off x="11430000" y="9120545"/>
            <a:ext cx="2895600" cy="798742"/>
          </a:xfrm>
          <a:custGeom>
            <a:avLst/>
            <a:gdLst/>
            <a:ahLst/>
            <a:cxnLst/>
            <a:rect l="l" t="t" r="r" b="b"/>
            <a:pathLst>
              <a:path w="8403590" h="1419860">
                <a:moveTo>
                  <a:pt x="0" y="0"/>
                </a:moveTo>
                <a:lnTo>
                  <a:pt x="8403590" y="0"/>
                </a:lnTo>
                <a:lnTo>
                  <a:pt x="8403590" y="1419860"/>
                </a:lnTo>
                <a:lnTo>
                  <a:pt x="0" y="14198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6C2100AE-85DE-7175-912E-0E306EED6400}"/>
              </a:ext>
            </a:extLst>
          </p:cNvPr>
          <p:cNvSpPr txBox="1"/>
          <p:nvPr/>
        </p:nvSpPr>
        <p:spPr>
          <a:xfrm>
            <a:off x="11612635" y="9282364"/>
            <a:ext cx="2530330" cy="4189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9"/>
              </a:lnSpc>
              <a:spcBef>
                <a:spcPct val="0"/>
              </a:spcBef>
            </a:pPr>
            <a:r>
              <a:rPr lang="en-US" sz="2700" b="1" spc="-9" dirty="0">
                <a:solidFill>
                  <a:srgbClr val="F69545"/>
                </a:solidFill>
                <a:latin typeface="Arial Bold"/>
                <a:ea typeface="Arial Bold"/>
                <a:cs typeface="Arial Bold"/>
                <a:sym typeface="Arial Bold"/>
                <a:hlinkClick r:id="rId12"/>
              </a:rPr>
              <a:t>Demo Video</a:t>
            </a:r>
            <a:endParaRPr lang="en-US" sz="2700" b="1" spc="-9" dirty="0">
              <a:solidFill>
                <a:srgbClr val="F69545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788E7-F700-7BB4-C099-A4156BF26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6"/>
            <a:ext cx="17345025" cy="2354263"/>
          </a:xfrm>
        </p:spPr>
        <p:txBody>
          <a:bodyPr>
            <a:normAutofit/>
          </a:bodyPr>
          <a:lstStyle/>
          <a:p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TEAM</a:t>
            </a:r>
            <a:endParaRPr lang="en-US"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Diagonal Corners Rounded 2">
            <a:extLst>
              <a:ext uri="{FF2B5EF4-FFF2-40B4-BE49-F238E27FC236}">
                <a16:creationId xmlns:a16="http://schemas.microsoft.com/office/drawing/2014/main" id="{EEF1E181-E951-F8DD-2BE2-AE5C9C91EACF}"/>
              </a:ext>
            </a:extLst>
          </p:cNvPr>
          <p:cNvSpPr/>
          <p:nvPr/>
        </p:nvSpPr>
        <p:spPr>
          <a:xfrm>
            <a:off x="771524" y="2628899"/>
            <a:ext cx="6086476" cy="6983414"/>
          </a:xfrm>
          <a:prstGeom prst="round2Diag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/>
            <a:r>
              <a:rPr lang="en-IN" sz="2400" dirty="0">
                <a:solidFill>
                  <a:schemeClr val="tx2"/>
                </a:solidFill>
              </a:rPr>
              <a:t>• </a:t>
            </a:r>
            <a:r>
              <a:rPr lang="en-US" sz="2400" dirty="0">
                <a:solidFill>
                  <a:schemeClr val="tx2"/>
                </a:solidFill>
              </a:rPr>
              <a:t>We combine AI skills with real student perspective.</a:t>
            </a:r>
            <a:endParaRPr lang="en-IN" sz="2400" dirty="0">
              <a:solidFill>
                <a:schemeClr val="tx2"/>
              </a:solidFill>
            </a:endParaRPr>
          </a:p>
          <a:p>
            <a:pPr lvl="1"/>
            <a:r>
              <a:rPr lang="en-IN" sz="2400" dirty="0">
                <a:solidFill>
                  <a:schemeClr val="tx2"/>
                </a:solidFill>
              </a:rPr>
              <a:t>•</a:t>
            </a:r>
            <a:r>
              <a:rPr lang="en-US" sz="2400" dirty="0">
                <a:solidFill>
                  <a:schemeClr val="tx2"/>
                </a:solidFill>
              </a:rPr>
              <a:t> Being students ourselves, we understand the real challenges behind dropouts and build solutions that are practical, scalable, and human-centric. </a:t>
            </a:r>
            <a:endParaRPr lang="en-IN" sz="2400" dirty="0">
              <a:solidFill>
                <a:schemeClr val="tx2"/>
              </a:solidFill>
            </a:endParaRPr>
          </a:p>
          <a:p>
            <a:pPr lvl="1"/>
            <a:r>
              <a:rPr lang="en-IN" sz="2400" dirty="0">
                <a:solidFill>
                  <a:schemeClr val="tx2"/>
                </a:solidFill>
              </a:rPr>
              <a:t>•</a:t>
            </a:r>
            <a:r>
              <a:rPr lang="en-US" sz="2400" dirty="0">
                <a:solidFill>
                  <a:schemeClr val="tx2"/>
                </a:solidFill>
              </a:rPr>
              <a:t>We turn complex data into simple insights that drive timely action.</a:t>
            </a:r>
            <a:endParaRPr lang="en-IN" sz="2400" dirty="0">
              <a:solidFill>
                <a:schemeClr val="tx2"/>
              </a:solidFill>
            </a:endParaRPr>
          </a:p>
          <a:p>
            <a:pPr lvl="1"/>
            <a:r>
              <a:rPr lang="en-IN" sz="2400" dirty="0">
                <a:solidFill>
                  <a:schemeClr val="tx2"/>
                </a:solidFill>
              </a:rPr>
              <a:t>•</a:t>
            </a:r>
            <a:r>
              <a:rPr lang="en-US" sz="2400" dirty="0">
                <a:solidFill>
                  <a:schemeClr val="tx2"/>
                </a:solidFill>
              </a:rPr>
              <a:t> This project comes from real experiences. </a:t>
            </a:r>
            <a:endParaRPr lang="en-IN" sz="2400" dirty="0">
              <a:solidFill>
                <a:schemeClr val="tx2"/>
              </a:solidFill>
            </a:endParaRPr>
          </a:p>
          <a:p>
            <a:pPr lvl="1"/>
            <a:r>
              <a:rPr lang="en-IN" sz="2400" dirty="0">
                <a:solidFill>
                  <a:schemeClr val="tx2"/>
                </a:solidFill>
              </a:rPr>
              <a:t>•</a:t>
            </a:r>
            <a:r>
              <a:rPr lang="en-US" sz="2400" dirty="0">
                <a:solidFill>
                  <a:schemeClr val="tx2"/>
                </a:solidFill>
              </a:rPr>
              <a:t>We have seen talented students struggle silently and miss opportunities due to lack of timely support</a:t>
            </a:r>
            <a:endParaRPr lang="en-IN" sz="2400" dirty="0">
              <a:solidFill>
                <a:schemeClr val="tx2"/>
              </a:solidFill>
            </a:endParaRPr>
          </a:p>
          <a:p>
            <a:pPr lvl="1"/>
            <a:r>
              <a:rPr lang="en-IN" sz="2400" dirty="0">
                <a:solidFill>
                  <a:schemeClr val="tx2"/>
                </a:solidFill>
              </a:rPr>
              <a:t>•</a:t>
            </a:r>
            <a:r>
              <a:rPr lang="en-US" sz="2400" dirty="0">
                <a:solidFill>
                  <a:schemeClr val="tx2"/>
                </a:solidFill>
              </a:rPr>
              <a:t>Through AI Guardian, we want to use technology to give every student the chance to succeed. </a:t>
            </a:r>
            <a:endParaRPr lang="en-IN" sz="2400" dirty="0">
              <a:solidFill>
                <a:schemeClr val="tx2"/>
              </a:solidFill>
            </a:endParaRPr>
          </a:p>
          <a:p>
            <a:pPr lvl="1"/>
            <a:r>
              <a:rPr lang="en-IN" sz="2400" dirty="0">
                <a:solidFill>
                  <a:schemeClr val="tx2"/>
                </a:solidFill>
              </a:rPr>
              <a:t>•</a:t>
            </a:r>
            <a:r>
              <a:rPr lang="en-US" sz="2400" dirty="0">
                <a:solidFill>
                  <a:schemeClr val="tx2"/>
                </a:solidFill>
              </a:rPr>
              <a:t>Our goal is simple — ensure help reaches students before it’s too late.</a:t>
            </a:r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64B4B069-8CD6-5C8A-1DC3-655C205991BA}"/>
              </a:ext>
            </a:extLst>
          </p:cNvPr>
          <p:cNvSpPr/>
          <p:nvPr/>
        </p:nvSpPr>
        <p:spPr>
          <a:xfrm>
            <a:off x="7172325" y="6286500"/>
            <a:ext cx="10144123" cy="3325813"/>
          </a:xfrm>
          <a:prstGeom prst="round1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chemeClr val="tx1"/>
                </a:solidFill>
              </a:rPr>
              <a:t>Team Members
A passionate team of </a:t>
            </a:r>
            <a:r>
              <a:rPr lang="en-IN" sz="2000" b="1" dirty="0" err="1">
                <a:solidFill>
                  <a:schemeClr val="tx1"/>
                </a:solidFill>
              </a:rPr>
              <a:t>B.Tech</a:t>
            </a:r>
            <a:r>
              <a:rPr lang="en-IN" sz="2000" b="1" dirty="0">
                <a:solidFill>
                  <a:schemeClr val="tx1"/>
                </a:solidFill>
              </a:rPr>
              <a:t> students dedicated to building AI-driven solutions for real-world education challenges.
Members:
</a:t>
            </a:r>
            <a:r>
              <a:rPr lang="en-IN" sz="2000" b="1" dirty="0" err="1">
                <a:solidFill>
                  <a:schemeClr val="tx1"/>
                </a:solidFill>
              </a:rPr>
              <a:t>Iram</a:t>
            </a:r>
            <a:r>
              <a:rPr lang="en-IN" sz="2000" b="1" dirty="0">
                <a:solidFill>
                  <a:schemeClr val="tx1"/>
                </a:solidFill>
              </a:rPr>
              <a:t> khan  </a:t>
            </a:r>
          </a:p>
          <a:p>
            <a:r>
              <a:rPr lang="en-IN" sz="2000" b="1" dirty="0">
                <a:solidFill>
                  <a:schemeClr val="tx1"/>
                </a:solidFill>
              </a:rPr>
              <a:t>Ilya Ali</a:t>
            </a:r>
          </a:p>
          <a:p>
            <a:r>
              <a:rPr lang="en-IN" sz="2000" b="1" dirty="0" err="1">
                <a:solidFill>
                  <a:schemeClr val="tx1"/>
                </a:solidFill>
              </a:rPr>
              <a:t>Hifza</a:t>
            </a:r>
            <a:r>
              <a:rPr lang="en-IN" sz="2000" b="1" dirty="0">
                <a:solidFill>
                  <a:schemeClr val="tx1"/>
                </a:solidFill>
              </a:rPr>
              <a:t> Hasan</a:t>
            </a:r>
          </a:p>
          <a:p>
            <a:r>
              <a:rPr lang="en-IN" sz="2000" b="1" dirty="0" err="1">
                <a:solidFill>
                  <a:schemeClr val="tx1"/>
                </a:solidFill>
              </a:rPr>
              <a:t>Kehkasha</a:t>
            </a:r>
            <a:r>
              <a:rPr lang="en-IN" sz="2000" b="1" dirty="0">
                <a:solidFill>
                  <a:schemeClr val="tx1"/>
                </a:solidFill>
              </a:rPr>
              <a:t> Begum</a:t>
            </a:r>
          </a:p>
          <a:p>
            <a:r>
              <a:rPr lang="en-IN" sz="2000" b="1" dirty="0" err="1">
                <a:solidFill>
                  <a:schemeClr val="tx1"/>
                </a:solidFill>
              </a:rPr>
              <a:t>Shahroz</a:t>
            </a:r>
            <a:r>
              <a:rPr lang="en-IN" sz="2000" b="1" dirty="0">
                <a:solidFill>
                  <a:schemeClr val="tx1"/>
                </a:solidFill>
              </a:rPr>
              <a:t> Khan</a:t>
            </a:r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5D5E185E-498F-C8E3-86E8-5FBB456815E6}"/>
              </a:ext>
            </a:extLst>
          </p:cNvPr>
          <p:cNvSpPr/>
          <p:nvPr/>
        </p:nvSpPr>
        <p:spPr>
          <a:xfrm>
            <a:off x="7172325" y="2628899"/>
            <a:ext cx="10144124" cy="3121423"/>
          </a:xfrm>
          <a:prstGeom prst="round2Diag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tx1"/>
                </a:solidFill>
              </a:rPr>
              <a:t>Project Mentor – </a:t>
            </a:r>
            <a:r>
              <a:rPr lang="en-IN" sz="2400" b="1" dirty="0" err="1">
                <a:solidFill>
                  <a:schemeClr val="tx1"/>
                </a:solidFill>
              </a:rPr>
              <a:t>Dr.</a:t>
            </a:r>
            <a:r>
              <a:rPr lang="en-IN" sz="2400" b="1" dirty="0">
                <a:solidFill>
                  <a:schemeClr val="tx1"/>
                </a:solidFill>
              </a:rPr>
              <a:t> </a:t>
            </a:r>
            <a:r>
              <a:rPr lang="en-IN" sz="2400" b="1" dirty="0" err="1">
                <a:solidFill>
                  <a:schemeClr val="tx1"/>
                </a:solidFill>
              </a:rPr>
              <a:t>Ruchi</a:t>
            </a:r>
            <a:r>
              <a:rPr lang="en-IN" sz="2400" b="1" dirty="0">
                <a:solidFill>
                  <a:schemeClr val="tx1"/>
                </a:solidFill>
              </a:rPr>
              <a:t> Jain
Assistant Professor, CSE (AI &amp; DS), </a:t>
            </a:r>
            <a:r>
              <a:rPr lang="en-IN" sz="2400" b="1" dirty="0" err="1">
                <a:solidFill>
                  <a:schemeClr val="tx1"/>
                </a:solidFill>
              </a:rPr>
              <a:t>SISTec</a:t>
            </a:r>
            <a:r>
              <a:rPr lang="en-IN" sz="2400" b="1" dirty="0">
                <a:solidFill>
                  <a:schemeClr val="tx1"/>
                </a:solidFill>
              </a:rPr>
              <a:t> Bhopal
Expertise: Machine Learning • Python • Deep Learning • Data Analytics
Contribution: Guided the team in research, model development, and system design, helping us shape AI Guardian into a practical and scalable solution.</a:t>
            </a:r>
            <a:endParaRPr 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7886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DB3F7-F6D0-6885-E8FB-D1BEBC22A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7145001" cy="9640888"/>
          </a:xfrm>
        </p:spPr>
        <p:txBody>
          <a:bodyPr>
            <a:normAutofit/>
          </a:bodyPr>
          <a:lstStyle/>
          <a:p>
            <a:r>
              <a:rPr lang="en-IN" sz="9600" dirty="0">
                <a:solidFill>
                  <a:schemeClr val="accent3">
                    <a:lumMod val="75000"/>
                  </a:schemeClr>
                </a:solidFill>
                <a:latin typeface="Algerian" pitchFamily="82" charset="0"/>
              </a:rPr>
              <a:t> </a:t>
            </a:r>
            <a:endParaRPr lang="en-US" sz="9600" dirty="0">
              <a:solidFill>
                <a:schemeClr val="accent3">
                  <a:lumMod val="75000"/>
                </a:schemeClr>
              </a:solidFill>
              <a:latin typeface="Algerian" pitchFamily="82" charset="0"/>
            </a:endParaRPr>
          </a:p>
        </p:txBody>
      </p:sp>
      <p:sp>
        <p:nvSpPr>
          <p:cNvPr id="6" name="Scroll: Horizontal 5">
            <a:extLst>
              <a:ext uri="{FF2B5EF4-FFF2-40B4-BE49-F238E27FC236}">
                <a16:creationId xmlns:a16="http://schemas.microsoft.com/office/drawing/2014/main" id="{433155FD-4172-2DB8-3383-0BB3E4C45E21}"/>
              </a:ext>
            </a:extLst>
          </p:cNvPr>
          <p:cNvSpPr/>
          <p:nvPr/>
        </p:nvSpPr>
        <p:spPr>
          <a:xfrm>
            <a:off x="1157287" y="3058810"/>
            <a:ext cx="15973425" cy="3599166"/>
          </a:xfrm>
          <a:prstGeom prst="horizontalScroll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600" dirty="0">
                <a:solidFill>
                  <a:schemeClr val="tx1"/>
                </a:solidFill>
                <a:latin typeface="Algerian" pitchFamily="82" charset="0"/>
              </a:rPr>
              <a:t>THANK YOU </a:t>
            </a:r>
            <a:endParaRPr lang="en-US" sz="9600" dirty="0">
              <a:solidFill>
                <a:schemeClr val="tx1"/>
              </a:solidFill>
              <a:latin typeface="Algerian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116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485</Words>
  <Application>Microsoft Office PowerPoint</Application>
  <PresentationFormat>Custom</PresentationFormat>
  <Paragraphs>81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AI-BASED DROP-OUT PREDICTION AND COUNCELLING SYSTEM</vt:lpstr>
      <vt:lpstr>OVERVIEW </vt:lpstr>
      <vt:lpstr>PowerPoint Presentation</vt:lpstr>
      <vt:lpstr>MARKET AND OPPORTUNITY </vt:lpstr>
      <vt:lpstr>PowerPoint Presentation</vt:lpstr>
      <vt:lpstr>PowerPoint Presentation</vt:lpstr>
      <vt:lpstr>PowerPoint Presentation</vt:lpstr>
      <vt:lpstr>PowerPoint Presentation</vt:lpstr>
      <vt:lpstr>THE TEAM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Syntax Solver Ai Guardian.pptx</dc:title>
  <dc:creator>Vipin Tomar</dc:creator>
  <cp:lastModifiedBy>iramashfaqkhan@outlook.com</cp:lastModifiedBy>
  <cp:revision>8</cp:revision>
  <dcterms:created xsi:type="dcterms:W3CDTF">2006-08-16T00:00:00Z</dcterms:created>
  <dcterms:modified xsi:type="dcterms:W3CDTF">2026-04-11T19:11:21Z</dcterms:modified>
  <dc:identifier>DAGztwQ3DSw</dc:identifier>
</cp:coreProperties>
</file>