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F5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F5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9008" y="126392"/>
            <a:ext cx="924308" cy="77301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66347" y="134112"/>
            <a:ext cx="903731" cy="7345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F5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88455" y="1101090"/>
            <a:ext cx="3442334" cy="3685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4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F5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" y="886967"/>
            <a:ext cx="10531602" cy="553897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356098" cy="10340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344" y="25095"/>
            <a:ext cx="110236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F5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006" y="2564384"/>
            <a:ext cx="6720840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8869" y="302463"/>
            <a:ext cx="8955405" cy="850874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706245" marR="5080" indent="-1693545" algn="ctr">
              <a:lnSpc>
                <a:spcPts val="5830"/>
              </a:lnSpc>
              <a:spcBef>
                <a:spcPts val="835"/>
              </a:spcBef>
            </a:pPr>
            <a:r>
              <a:rPr sz="5400" spc="925" dirty="0"/>
              <a:t>Welcome</a:t>
            </a:r>
            <a:endParaRPr sz="5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15654" y="2589176"/>
            <a:ext cx="8425180" cy="1091565"/>
            <a:chOff x="1915654" y="2589176"/>
            <a:chExt cx="8425180" cy="10915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5654" y="2589176"/>
              <a:ext cx="8424691" cy="10913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6843" y="2600578"/>
              <a:ext cx="8338184" cy="100431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011928" y="4071873"/>
            <a:ext cx="2246630" cy="604520"/>
            <a:chOff x="5011928" y="4071873"/>
            <a:chExt cx="2246630" cy="60452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6144" y="4087362"/>
              <a:ext cx="2231913" cy="5890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1928" y="4071873"/>
              <a:ext cx="2214753" cy="5731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9123" y="25095"/>
            <a:ext cx="4250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solidFill>
                  <a:srgbClr val="001F5F"/>
                </a:solidFill>
                <a:latin typeface="Cambria"/>
                <a:cs typeface="Cambria"/>
              </a:rPr>
              <a:t>Web</a:t>
            </a:r>
            <a:r>
              <a:rPr sz="4000" b="1" spc="-16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1F5F"/>
                </a:solidFill>
                <a:latin typeface="Cambria"/>
                <a:cs typeface="Cambria"/>
              </a:rPr>
              <a:t>Components: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3797" y="1140663"/>
            <a:ext cx="3658870" cy="490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0865" indent="-558800">
              <a:lnSpc>
                <a:spcPct val="100000"/>
              </a:lnSpc>
              <a:spcBef>
                <a:spcPts val="95"/>
              </a:spcBef>
              <a:buSzPct val="97500"/>
              <a:buAutoNum type="arabicPeriod"/>
              <a:tabLst>
                <a:tab pos="570865" algn="l"/>
              </a:tabLst>
            </a:pPr>
            <a:r>
              <a:rPr sz="4000" spc="-10" dirty="0">
                <a:latin typeface="Consolas"/>
                <a:cs typeface="Consolas"/>
              </a:rPr>
              <a:t>History</a:t>
            </a:r>
            <a:endParaRPr sz="4000" dirty="0">
              <a:latin typeface="Consolas"/>
              <a:cs typeface="Consolas"/>
            </a:endParaRPr>
          </a:p>
          <a:p>
            <a:pPr marL="570865" indent="-558800">
              <a:lnSpc>
                <a:spcPct val="100000"/>
              </a:lnSpc>
              <a:spcBef>
                <a:spcPts val="5"/>
              </a:spcBef>
              <a:buSzPct val="97500"/>
              <a:buAutoNum type="arabicPeriod"/>
              <a:tabLst>
                <a:tab pos="570865" algn="l"/>
              </a:tabLst>
            </a:pPr>
            <a:r>
              <a:rPr sz="4000" spc="-10" dirty="0">
                <a:latin typeface="Consolas"/>
                <a:cs typeface="Consolas"/>
              </a:rPr>
              <a:t>Device</a:t>
            </a:r>
            <a:endParaRPr sz="4000" dirty="0">
              <a:latin typeface="Consolas"/>
              <a:cs typeface="Consolas"/>
            </a:endParaRPr>
          </a:p>
          <a:p>
            <a:pPr marL="570865" indent="-558800">
              <a:lnSpc>
                <a:spcPct val="100000"/>
              </a:lnSpc>
              <a:buSzPct val="97500"/>
              <a:buAutoNum type="arabicPeriod"/>
              <a:tabLst>
                <a:tab pos="570865" algn="l"/>
              </a:tabLst>
            </a:pPr>
            <a:r>
              <a:rPr sz="4000" dirty="0">
                <a:latin typeface="Consolas"/>
                <a:cs typeface="Consolas"/>
              </a:rPr>
              <a:t>Web</a:t>
            </a:r>
            <a:r>
              <a:rPr sz="4000" spc="-70" dirty="0">
                <a:latin typeface="Consolas"/>
                <a:cs typeface="Consolas"/>
              </a:rPr>
              <a:t> </a:t>
            </a:r>
            <a:r>
              <a:rPr sz="4000" spc="-10" dirty="0">
                <a:latin typeface="Consolas"/>
                <a:cs typeface="Consolas"/>
              </a:rPr>
              <a:t>browser</a:t>
            </a:r>
            <a:endParaRPr sz="4000" dirty="0">
              <a:latin typeface="Consolas"/>
              <a:cs typeface="Consolas"/>
            </a:endParaRPr>
          </a:p>
          <a:p>
            <a:pPr marL="570865" indent="-558800">
              <a:lnSpc>
                <a:spcPct val="100000"/>
              </a:lnSpc>
              <a:buSzPct val="97500"/>
              <a:buAutoNum type="arabicPeriod"/>
              <a:tabLst>
                <a:tab pos="570865" algn="l"/>
              </a:tabLst>
            </a:pPr>
            <a:r>
              <a:rPr sz="4000" dirty="0">
                <a:latin typeface="Consolas"/>
                <a:cs typeface="Consolas"/>
              </a:rPr>
              <a:t>Web</a:t>
            </a:r>
            <a:r>
              <a:rPr sz="4000" spc="-75" dirty="0">
                <a:latin typeface="Consolas"/>
                <a:cs typeface="Consolas"/>
              </a:rPr>
              <a:t> </a:t>
            </a:r>
            <a:r>
              <a:rPr sz="4000" spc="-20" dirty="0">
                <a:latin typeface="Consolas"/>
                <a:cs typeface="Consolas"/>
              </a:rPr>
              <a:t>page</a:t>
            </a:r>
            <a:endParaRPr sz="4000" dirty="0">
              <a:latin typeface="Consolas"/>
              <a:cs typeface="Consolas"/>
            </a:endParaRPr>
          </a:p>
          <a:p>
            <a:pPr marL="570865" indent="-558800">
              <a:lnSpc>
                <a:spcPct val="100000"/>
              </a:lnSpc>
              <a:buSzPct val="97500"/>
              <a:buAutoNum type="arabicPeriod"/>
              <a:tabLst>
                <a:tab pos="570865" algn="l"/>
              </a:tabLst>
            </a:pPr>
            <a:r>
              <a:rPr sz="4000" dirty="0">
                <a:latin typeface="Consolas"/>
                <a:cs typeface="Consolas"/>
              </a:rPr>
              <a:t>Web</a:t>
            </a:r>
            <a:r>
              <a:rPr sz="4000" spc="-70" dirty="0">
                <a:latin typeface="Consolas"/>
                <a:cs typeface="Consolas"/>
              </a:rPr>
              <a:t> </a:t>
            </a:r>
            <a:r>
              <a:rPr sz="4000" spc="-20" dirty="0">
                <a:latin typeface="Consolas"/>
                <a:cs typeface="Consolas"/>
              </a:rPr>
              <a:t>site</a:t>
            </a:r>
            <a:endParaRPr sz="4000" dirty="0">
              <a:latin typeface="Consolas"/>
              <a:cs typeface="Consolas"/>
            </a:endParaRPr>
          </a:p>
          <a:p>
            <a:pPr marL="570865" indent="-558800">
              <a:lnSpc>
                <a:spcPct val="100000"/>
              </a:lnSpc>
              <a:spcBef>
                <a:spcPts val="5"/>
              </a:spcBef>
              <a:buSzPct val="97500"/>
              <a:buAutoNum type="arabicPeriod"/>
              <a:tabLst>
                <a:tab pos="570865" algn="l"/>
              </a:tabLst>
            </a:pPr>
            <a:r>
              <a:rPr sz="4000" spc="-25" dirty="0">
                <a:latin typeface="Consolas"/>
                <a:cs typeface="Consolas"/>
              </a:rPr>
              <a:t>ISP</a:t>
            </a:r>
            <a:endParaRPr sz="4000" dirty="0">
              <a:latin typeface="Consolas"/>
              <a:cs typeface="Consolas"/>
            </a:endParaRPr>
          </a:p>
          <a:p>
            <a:pPr marL="570865" indent="-558800">
              <a:lnSpc>
                <a:spcPct val="100000"/>
              </a:lnSpc>
              <a:buSzPct val="97500"/>
              <a:buAutoNum type="arabicPeriod"/>
              <a:tabLst>
                <a:tab pos="570865" algn="l"/>
              </a:tabLst>
            </a:pPr>
            <a:r>
              <a:rPr sz="4000" spc="-10" dirty="0">
                <a:latin typeface="Consolas"/>
                <a:cs typeface="Consolas"/>
              </a:rPr>
              <a:t>Client</a:t>
            </a:r>
            <a:endParaRPr sz="4000" dirty="0">
              <a:latin typeface="Consolas"/>
              <a:cs typeface="Consolas"/>
            </a:endParaRPr>
          </a:p>
          <a:p>
            <a:pPr marL="570865" indent="-558800">
              <a:lnSpc>
                <a:spcPct val="100000"/>
              </a:lnSpc>
              <a:buSzPct val="97500"/>
              <a:buAutoNum type="arabicPeriod"/>
              <a:tabLst>
                <a:tab pos="570865" algn="l"/>
              </a:tabLst>
            </a:pPr>
            <a:r>
              <a:rPr sz="4000" spc="-10" dirty="0">
                <a:latin typeface="Consolas"/>
                <a:cs typeface="Consolas"/>
              </a:rPr>
              <a:t>Server</a:t>
            </a:r>
            <a:endParaRPr sz="40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4823" y="1140663"/>
            <a:ext cx="4495800" cy="490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0865" indent="-558800">
              <a:lnSpc>
                <a:spcPct val="100000"/>
              </a:lnSpc>
              <a:spcBef>
                <a:spcPts val="95"/>
              </a:spcBef>
              <a:buSzPct val="97500"/>
              <a:buAutoNum type="arabicPeriod" startAt="9"/>
              <a:tabLst>
                <a:tab pos="570865" algn="l"/>
              </a:tabLst>
            </a:pPr>
            <a:r>
              <a:rPr sz="4000" dirty="0">
                <a:latin typeface="Consolas"/>
                <a:cs typeface="Consolas"/>
              </a:rPr>
              <a:t>Web</a:t>
            </a:r>
            <a:r>
              <a:rPr sz="4000" spc="-70" dirty="0">
                <a:latin typeface="Consolas"/>
                <a:cs typeface="Consolas"/>
              </a:rPr>
              <a:t> </a:t>
            </a:r>
            <a:r>
              <a:rPr sz="4000" spc="-10" dirty="0">
                <a:latin typeface="Consolas"/>
                <a:cs typeface="Consolas"/>
              </a:rPr>
              <a:t>server</a:t>
            </a:r>
            <a:endParaRPr sz="4000">
              <a:latin typeface="Consolas"/>
              <a:cs typeface="Consolas"/>
            </a:endParaRPr>
          </a:p>
          <a:p>
            <a:pPr marL="849630" indent="-836930">
              <a:lnSpc>
                <a:spcPct val="100000"/>
              </a:lnSpc>
              <a:spcBef>
                <a:spcPts val="5"/>
              </a:spcBef>
              <a:buSzPct val="97500"/>
              <a:buAutoNum type="arabicPeriod" startAt="9"/>
              <a:tabLst>
                <a:tab pos="849630" algn="l"/>
              </a:tabLst>
            </a:pPr>
            <a:r>
              <a:rPr sz="4000" spc="-10" dirty="0">
                <a:latin typeface="Consolas"/>
                <a:cs typeface="Consolas"/>
              </a:rPr>
              <a:t>Protocol</a:t>
            </a:r>
            <a:endParaRPr sz="4000">
              <a:latin typeface="Consolas"/>
              <a:cs typeface="Consolas"/>
            </a:endParaRPr>
          </a:p>
          <a:p>
            <a:pPr marL="849630" indent="-836930">
              <a:lnSpc>
                <a:spcPct val="100000"/>
              </a:lnSpc>
              <a:buSzPct val="97500"/>
              <a:buAutoNum type="arabicPeriod" startAt="9"/>
              <a:tabLst>
                <a:tab pos="849630" algn="l"/>
              </a:tabLst>
            </a:pPr>
            <a:r>
              <a:rPr sz="4000" dirty="0">
                <a:latin typeface="Consolas"/>
                <a:cs typeface="Consolas"/>
              </a:rPr>
              <a:t>OSI</a:t>
            </a:r>
            <a:r>
              <a:rPr sz="4000" spc="-70" dirty="0">
                <a:latin typeface="Consolas"/>
                <a:cs typeface="Consolas"/>
              </a:rPr>
              <a:t> </a:t>
            </a:r>
            <a:r>
              <a:rPr sz="4000" spc="-10" dirty="0">
                <a:latin typeface="Consolas"/>
                <a:cs typeface="Consolas"/>
              </a:rPr>
              <a:t>model</a:t>
            </a:r>
            <a:endParaRPr sz="4000">
              <a:latin typeface="Consolas"/>
              <a:cs typeface="Consolas"/>
            </a:endParaRPr>
          </a:p>
          <a:p>
            <a:pPr marL="849630" indent="-836930">
              <a:lnSpc>
                <a:spcPct val="100000"/>
              </a:lnSpc>
              <a:buSzPct val="97500"/>
              <a:buAutoNum type="arabicPeriod" startAt="9"/>
              <a:tabLst>
                <a:tab pos="849630" algn="l"/>
              </a:tabLst>
            </a:pPr>
            <a:r>
              <a:rPr sz="4000" spc="-25" dirty="0">
                <a:latin typeface="Consolas"/>
                <a:cs typeface="Consolas"/>
              </a:rPr>
              <a:t>URL</a:t>
            </a:r>
            <a:endParaRPr sz="4000">
              <a:latin typeface="Consolas"/>
              <a:cs typeface="Consolas"/>
            </a:endParaRPr>
          </a:p>
          <a:p>
            <a:pPr marL="849630" indent="-836930">
              <a:lnSpc>
                <a:spcPct val="100000"/>
              </a:lnSpc>
              <a:buSzPct val="97500"/>
              <a:buAutoNum type="arabicPeriod" startAt="9"/>
              <a:tabLst>
                <a:tab pos="849630" algn="l"/>
              </a:tabLst>
            </a:pPr>
            <a:r>
              <a:rPr sz="4000" spc="-20" dirty="0">
                <a:latin typeface="Consolas"/>
                <a:cs typeface="Consolas"/>
              </a:rPr>
              <a:t>Host</a:t>
            </a:r>
            <a:endParaRPr sz="4000">
              <a:latin typeface="Consolas"/>
              <a:cs typeface="Consolas"/>
            </a:endParaRPr>
          </a:p>
          <a:p>
            <a:pPr marL="849630" indent="-836930">
              <a:lnSpc>
                <a:spcPct val="100000"/>
              </a:lnSpc>
              <a:spcBef>
                <a:spcPts val="5"/>
              </a:spcBef>
              <a:buSzPct val="97500"/>
              <a:buAutoNum type="arabicPeriod" startAt="9"/>
              <a:tabLst>
                <a:tab pos="849630" algn="l"/>
              </a:tabLst>
            </a:pPr>
            <a:r>
              <a:rPr sz="4000" spc="-20" dirty="0">
                <a:latin typeface="Consolas"/>
                <a:cs typeface="Consolas"/>
              </a:rPr>
              <a:t>SDLC</a:t>
            </a:r>
            <a:endParaRPr sz="4000">
              <a:latin typeface="Consolas"/>
              <a:cs typeface="Consolas"/>
            </a:endParaRPr>
          </a:p>
          <a:p>
            <a:pPr marL="849630" indent="-836930">
              <a:lnSpc>
                <a:spcPct val="100000"/>
              </a:lnSpc>
              <a:buSzPct val="97500"/>
              <a:buAutoNum type="arabicPeriod" startAt="9"/>
              <a:tabLst>
                <a:tab pos="849630" algn="l"/>
              </a:tabLst>
            </a:pPr>
            <a:r>
              <a:rPr sz="4000" dirty="0">
                <a:latin typeface="Consolas"/>
                <a:cs typeface="Consolas"/>
              </a:rPr>
              <a:t>Web</a:t>
            </a:r>
            <a:r>
              <a:rPr sz="4000" spc="-80" dirty="0">
                <a:latin typeface="Consolas"/>
                <a:cs typeface="Consolas"/>
              </a:rPr>
              <a:t> </a:t>
            </a:r>
            <a:r>
              <a:rPr sz="4000" dirty="0">
                <a:latin typeface="Consolas"/>
                <a:cs typeface="Consolas"/>
              </a:rPr>
              <a:t>Dev.</a:t>
            </a:r>
            <a:r>
              <a:rPr sz="4000" spc="-75" dirty="0">
                <a:latin typeface="Consolas"/>
                <a:cs typeface="Consolas"/>
              </a:rPr>
              <a:t> </a:t>
            </a:r>
            <a:r>
              <a:rPr sz="4000" spc="-20" dirty="0">
                <a:latin typeface="Consolas"/>
                <a:cs typeface="Consolas"/>
              </a:rPr>
              <a:t>Tool</a:t>
            </a:r>
            <a:endParaRPr sz="4000">
              <a:latin typeface="Consolas"/>
              <a:cs typeface="Consolas"/>
            </a:endParaRPr>
          </a:p>
          <a:p>
            <a:pPr marL="849630" indent="-836930">
              <a:lnSpc>
                <a:spcPct val="100000"/>
              </a:lnSpc>
              <a:buSzPct val="97500"/>
              <a:buAutoNum type="arabicPeriod" startAt="9"/>
              <a:tabLst>
                <a:tab pos="849630" algn="l"/>
              </a:tabLst>
            </a:pPr>
            <a:r>
              <a:rPr sz="4000" dirty="0">
                <a:latin typeface="Consolas"/>
                <a:cs typeface="Consolas"/>
              </a:rPr>
              <a:t>HTML</a:t>
            </a:r>
            <a:r>
              <a:rPr sz="4000" spc="-90" dirty="0">
                <a:latin typeface="Consolas"/>
                <a:cs typeface="Consolas"/>
              </a:rPr>
              <a:t> </a:t>
            </a:r>
            <a:r>
              <a:rPr sz="4000" spc="-20" dirty="0">
                <a:latin typeface="Consolas"/>
                <a:cs typeface="Consolas"/>
              </a:rPr>
              <a:t>Tags</a:t>
            </a:r>
            <a:endParaRPr sz="4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" y="3642004"/>
            <a:ext cx="3598164" cy="29208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9580" y="25907"/>
            <a:ext cx="3244596" cy="32430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7173" y="3248659"/>
            <a:ext cx="2653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2400" b="1" spc="95" dirty="0">
                <a:latin typeface="Cambria"/>
                <a:cs typeface="Cambria"/>
              </a:rPr>
              <a:t>Client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60" dirty="0">
                <a:latin typeface="Cambria"/>
                <a:cs typeface="Cambria"/>
              </a:rPr>
              <a:t>Site,</a:t>
            </a:r>
            <a:r>
              <a:rPr sz="2400" b="1" spc="235" dirty="0">
                <a:latin typeface="Cambria"/>
                <a:cs typeface="Cambria"/>
              </a:rPr>
              <a:t> </a:t>
            </a:r>
            <a:r>
              <a:rPr sz="2400" b="1" spc="75" dirty="0">
                <a:latin typeface="Cambria"/>
                <a:cs typeface="Cambria"/>
              </a:rPr>
              <a:t>USER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5542" y="3248659"/>
            <a:ext cx="1015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60" dirty="0">
                <a:latin typeface="Cambria"/>
                <a:cs typeface="Cambria"/>
              </a:rPr>
              <a:t>Server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262" y="163987"/>
            <a:ext cx="3850309" cy="45096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Client</a:t>
            </a:r>
            <a:r>
              <a:rPr spc="215" dirty="0"/>
              <a:t> </a:t>
            </a:r>
            <a:r>
              <a:rPr spc="265" dirty="0"/>
              <a:t>&amp;</a:t>
            </a:r>
            <a:r>
              <a:rPr spc="240" dirty="0"/>
              <a:t> </a:t>
            </a:r>
            <a:r>
              <a:rPr spc="-10" dirty="0"/>
              <a:t>Server: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44" y="-141659"/>
            <a:ext cx="9023350" cy="126809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pc="345" dirty="0"/>
              <a:t>HTML</a:t>
            </a:r>
            <a:r>
              <a:rPr spc="80" dirty="0"/>
              <a:t> </a:t>
            </a:r>
            <a:r>
              <a:rPr dirty="0"/>
              <a:t>Tags:</a:t>
            </a:r>
            <a:r>
              <a:rPr spc="125" dirty="0"/>
              <a:t> </a:t>
            </a:r>
            <a:r>
              <a:rPr dirty="0"/>
              <a:t>Types</a:t>
            </a:r>
            <a:r>
              <a:rPr spc="105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Tag</a:t>
            </a:r>
            <a:r>
              <a:rPr spc="135" dirty="0"/>
              <a:t> </a:t>
            </a:r>
            <a:r>
              <a:rPr spc="265" dirty="0"/>
              <a:t>&amp;</a:t>
            </a:r>
            <a:r>
              <a:rPr spc="135" dirty="0"/>
              <a:t> </a:t>
            </a:r>
            <a:r>
              <a:rPr spc="-10" dirty="0"/>
              <a:t>Structure</a:t>
            </a:r>
          </a:p>
          <a:p>
            <a:pPr marL="429259">
              <a:lnSpc>
                <a:spcPct val="100000"/>
              </a:lnSpc>
              <a:spcBef>
                <a:spcPts val="790"/>
              </a:spcBef>
            </a:pPr>
            <a:r>
              <a:rPr sz="2400" spc="95" dirty="0">
                <a:solidFill>
                  <a:srgbClr val="000000"/>
                </a:solidFill>
              </a:rPr>
              <a:t>HTML5:</a:t>
            </a:r>
            <a:r>
              <a:rPr sz="2400" spc="190" dirty="0">
                <a:solidFill>
                  <a:srgbClr val="000000"/>
                </a:solidFill>
              </a:rPr>
              <a:t> </a:t>
            </a:r>
            <a:r>
              <a:rPr sz="2400" b="0" spc="114" dirty="0">
                <a:solidFill>
                  <a:srgbClr val="000000"/>
                </a:solidFill>
                <a:latin typeface="Cambria"/>
                <a:cs typeface="Cambria"/>
              </a:rPr>
              <a:t>hypertext</a:t>
            </a:r>
            <a:r>
              <a:rPr sz="2400" b="0" spc="2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60" dirty="0">
                <a:solidFill>
                  <a:srgbClr val="000000"/>
                </a:solidFill>
                <a:latin typeface="Cambria"/>
                <a:cs typeface="Cambria"/>
              </a:rPr>
              <a:t>markup</a:t>
            </a:r>
            <a:r>
              <a:rPr sz="2400" b="0" spc="2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35" dirty="0">
                <a:solidFill>
                  <a:srgbClr val="000000"/>
                </a:solidFill>
                <a:latin typeface="Cambria"/>
                <a:cs typeface="Cambria"/>
              </a:rPr>
              <a:t>language</a:t>
            </a:r>
            <a:r>
              <a:rPr sz="2400" b="0" spc="2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05" dirty="0">
                <a:solidFill>
                  <a:srgbClr val="000000"/>
                </a:solidFill>
                <a:latin typeface="Cambria"/>
                <a:cs typeface="Cambria"/>
              </a:rPr>
              <a:t>Version-</a:t>
            </a:r>
            <a:r>
              <a:rPr sz="2400" b="0" spc="80" dirty="0">
                <a:solidFill>
                  <a:srgbClr val="000000"/>
                </a:solidFill>
                <a:latin typeface="Cambria"/>
                <a:cs typeface="Cambria"/>
              </a:rPr>
              <a:t>5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006" y="1466850"/>
            <a:ext cx="728027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70" dirty="0">
                <a:latin typeface="Cambria"/>
                <a:cs typeface="Cambria"/>
              </a:rPr>
              <a:t>H</a:t>
            </a:r>
            <a:r>
              <a:rPr sz="2400" b="1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Switch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page/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Link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page/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Change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page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165" dirty="0">
                <a:latin typeface="Cambria"/>
                <a:cs typeface="Cambria"/>
              </a:rPr>
              <a:t>T</a:t>
            </a:r>
            <a:r>
              <a:rPr sz="2400" b="1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text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(a,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b,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c,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d,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1,2,3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@,#,&lt;,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&gt;)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140" dirty="0">
                <a:latin typeface="Cambria"/>
                <a:cs typeface="Cambria"/>
              </a:rPr>
              <a:t>M</a:t>
            </a:r>
            <a:r>
              <a:rPr sz="2400" b="1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Markup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design,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structure,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view,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Layout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apply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65" dirty="0">
                <a:latin typeface="Cambria"/>
                <a:cs typeface="Cambria"/>
              </a:rPr>
              <a:t>L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Language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105" dirty="0">
                <a:latin typeface="Cambria"/>
                <a:cs typeface="Cambria"/>
              </a:rPr>
              <a:t>Types:</a:t>
            </a:r>
            <a:endParaRPr sz="2400">
              <a:latin typeface="Cambria"/>
              <a:cs typeface="Cambria"/>
            </a:endParaRPr>
          </a:p>
          <a:p>
            <a:pPr marL="368935" indent="-356235">
              <a:lnSpc>
                <a:spcPts val="2875"/>
              </a:lnSpc>
              <a:buAutoNum type="arabicPeriod"/>
              <a:tabLst>
                <a:tab pos="368935" algn="l"/>
              </a:tabLst>
            </a:pPr>
            <a:r>
              <a:rPr sz="2400" spc="135" dirty="0">
                <a:latin typeface="Cambria"/>
                <a:cs typeface="Cambria"/>
              </a:rPr>
              <a:t>Container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tag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489710" algn="l"/>
              </a:tabLst>
            </a:pPr>
            <a:r>
              <a:rPr sz="2400" b="1" spc="60" dirty="0">
                <a:latin typeface="Cambria"/>
                <a:cs typeface="Cambria"/>
              </a:rPr>
              <a:t>Ex:</a:t>
            </a:r>
            <a:r>
              <a:rPr sz="2400" b="1" spc="22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&lt;h1&gt;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70" dirty="0">
                <a:latin typeface="Cambria"/>
                <a:cs typeface="Cambria"/>
              </a:rPr>
              <a:t>x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y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335" dirty="0">
                <a:latin typeface="Cambria"/>
                <a:cs typeface="Cambria"/>
              </a:rPr>
              <a:t>z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&lt;/h1&gt;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&lt;table&gt;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abcd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&lt;/table&gt;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Cambria"/>
              <a:cs typeface="Cambria"/>
            </a:endParaRPr>
          </a:p>
          <a:p>
            <a:pPr marL="368935" indent="-356235">
              <a:lnSpc>
                <a:spcPct val="100000"/>
              </a:lnSpc>
              <a:buAutoNum type="arabicPeriod" startAt="2"/>
              <a:tabLst>
                <a:tab pos="368935" algn="l"/>
              </a:tabLst>
            </a:pPr>
            <a:r>
              <a:rPr sz="2400" spc="114" dirty="0">
                <a:latin typeface="Cambria"/>
                <a:cs typeface="Cambria"/>
              </a:rPr>
              <a:t>Empty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tag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60" dirty="0">
                <a:latin typeface="Cambria"/>
                <a:cs typeface="Cambria"/>
              </a:rPr>
              <a:t>Ex:</a:t>
            </a:r>
            <a:r>
              <a:rPr sz="2400" b="1" spc="22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&lt;img&gt;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&lt;br&gt;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&lt;hr&gt;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Cambria"/>
              <a:cs typeface="Cambria"/>
            </a:endParaRPr>
          </a:p>
          <a:p>
            <a:pPr marL="12700" marR="3482340" indent="357505">
              <a:lnSpc>
                <a:spcPct val="100000"/>
              </a:lnSpc>
              <a:buAutoNum type="arabicPeriod" startAt="3"/>
              <a:tabLst>
                <a:tab pos="370205" algn="l"/>
              </a:tabLst>
            </a:pPr>
            <a:r>
              <a:rPr sz="2400" spc="90" dirty="0">
                <a:latin typeface="Cambria"/>
                <a:cs typeface="Cambria"/>
              </a:rPr>
              <a:t>Entity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b="1" spc="95" dirty="0">
                <a:solidFill>
                  <a:srgbClr val="006FC0"/>
                </a:solidFill>
                <a:latin typeface="Cambria"/>
                <a:cs typeface="Cambria"/>
              </a:rPr>
              <a:t>&amp;</a:t>
            </a:r>
            <a:r>
              <a:rPr sz="2400" spc="95" dirty="0">
                <a:latin typeface="Cambria"/>
                <a:cs typeface="Cambria"/>
              </a:rPr>
              <a:t>ENTITY_NAME</a:t>
            </a:r>
            <a:r>
              <a:rPr sz="2400" b="1" spc="95" dirty="0">
                <a:solidFill>
                  <a:srgbClr val="006FC0"/>
                </a:solidFill>
                <a:latin typeface="Cambria"/>
                <a:cs typeface="Cambria"/>
              </a:rPr>
              <a:t>; </a:t>
            </a:r>
            <a:r>
              <a:rPr sz="2400" b="1" spc="60" dirty="0">
                <a:latin typeface="Cambria"/>
                <a:cs typeface="Cambria"/>
              </a:rPr>
              <a:t>Ex:</a:t>
            </a:r>
            <a:r>
              <a:rPr sz="2400" b="1" spc="2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&amp;nbsp;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&amp;copy;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&amp;lrArr;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44" y="-141659"/>
            <a:ext cx="6356985" cy="126809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pc="345" dirty="0"/>
              <a:t>HTML</a:t>
            </a:r>
            <a:r>
              <a:rPr spc="165" dirty="0"/>
              <a:t> </a:t>
            </a:r>
            <a:r>
              <a:rPr dirty="0"/>
              <a:t>Tags:</a:t>
            </a:r>
            <a:r>
              <a:rPr spc="215" dirty="0"/>
              <a:t> </a:t>
            </a:r>
            <a:r>
              <a:rPr spc="50" dirty="0"/>
              <a:t>Heading</a:t>
            </a:r>
            <a:r>
              <a:rPr spc="204" dirty="0"/>
              <a:t> </a:t>
            </a:r>
            <a:r>
              <a:rPr spc="-20" dirty="0"/>
              <a:t>Tags</a:t>
            </a:r>
          </a:p>
          <a:p>
            <a:pPr marL="429259">
              <a:lnSpc>
                <a:spcPct val="100000"/>
              </a:lnSpc>
              <a:spcBef>
                <a:spcPts val="790"/>
              </a:spcBef>
            </a:pPr>
            <a:r>
              <a:rPr sz="2400" b="0" spc="120" dirty="0">
                <a:solidFill>
                  <a:srgbClr val="000000"/>
                </a:solidFill>
                <a:latin typeface="Cambria"/>
                <a:cs typeface="Cambria"/>
              </a:rPr>
              <a:t>text,</a:t>
            </a:r>
            <a:r>
              <a:rPr sz="2400" b="0" spc="2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05" dirty="0">
                <a:solidFill>
                  <a:srgbClr val="000000"/>
                </a:solidFill>
                <a:latin typeface="Cambria"/>
                <a:cs typeface="Cambria"/>
              </a:rPr>
              <a:t>line</a:t>
            </a:r>
            <a:r>
              <a:rPr sz="2400" b="0" spc="2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25" dirty="0">
                <a:solidFill>
                  <a:srgbClr val="000000"/>
                </a:solidFill>
                <a:latin typeface="Cambria"/>
                <a:cs typeface="Cambria"/>
              </a:rPr>
              <a:t>by</a:t>
            </a:r>
            <a:r>
              <a:rPr sz="2400" b="0" spc="2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10" dirty="0">
                <a:solidFill>
                  <a:srgbClr val="000000"/>
                </a:solidFill>
                <a:latin typeface="Cambria"/>
                <a:cs typeface="Cambria"/>
              </a:rPr>
              <a:t>line,</a:t>
            </a:r>
            <a:r>
              <a:rPr sz="2400" b="0" spc="2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40" dirty="0">
                <a:solidFill>
                  <a:srgbClr val="000000"/>
                </a:solidFill>
                <a:latin typeface="Cambria"/>
                <a:cs typeface="Cambria"/>
              </a:rPr>
              <a:t>bold,</a:t>
            </a:r>
            <a:r>
              <a:rPr sz="2400" b="0" spc="2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40" dirty="0">
                <a:solidFill>
                  <a:srgbClr val="000000"/>
                </a:solidFill>
                <a:latin typeface="Cambria"/>
                <a:cs typeface="Cambria"/>
              </a:rPr>
              <a:t>different</a:t>
            </a:r>
            <a:r>
              <a:rPr sz="2400" b="0" spc="2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0" spc="150" dirty="0">
                <a:solidFill>
                  <a:srgbClr val="000000"/>
                </a:solidFill>
                <a:latin typeface="Cambria"/>
                <a:cs typeface="Cambria"/>
              </a:rPr>
              <a:t>sizes,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006" y="1397233"/>
            <a:ext cx="6059170" cy="331787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&lt;h1&gt;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&lt;/h1&gt;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006FC0"/>
                </a:solidFill>
                <a:latin typeface="Cambria"/>
                <a:cs typeface="Cambria"/>
              </a:rPr>
              <a:t>size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largest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&lt;h2&gt;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&lt;/h2&gt;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&lt;h3&gt;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&lt;/h3&gt;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&lt;h4&gt;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&lt;/h4&gt;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&lt;h5&gt;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&lt;/h5&gt;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&lt;h6&gt;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&lt;/h6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&gt;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006FC0"/>
                </a:solidFill>
                <a:latin typeface="Cambria"/>
                <a:cs typeface="Cambria"/>
              </a:rPr>
              <a:t>size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smallest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295" dirty="0"/>
              <a:t> </a:t>
            </a:r>
            <a:r>
              <a:rPr dirty="0"/>
              <a:t>Tags:</a:t>
            </a:r>
            <a:r>
              <a:rPr spc="345" dirty="0"/>
              <a:t> </a:t>
            </a:r>
            <a:r>
              <a:rPr dirty="0"/>
              <a:t>Paragraph</a:t>
            </a:r>
            <a:r>
              <a:rPr spc="330" dirty="0"/>
              <a:t> </a:t>
            </a:r>
            <a:r>
              <a:rPr spc="265" dirty="0"/>
              <a:t>&amp;</a:t>
            </a:r>
            <a:r>
              <a:rPr spc="130" dirty="0"/>
              <a:t> </a:t>
            </a:r>
            <a:r>
              <a:rPr dirty="0"/>
              <a:t>Alignment</a:t>
            </a:r>
            <a:r>
              <a:rPr spc="340" dirty="0"/>
              <a:t> </a:t>
            </a:r>
            <a:r>
              <a:rPr spc="-20" dirty="0"/>
              <a:t>Tags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8695690" cy="569722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&lt;p&gt;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&lt;/p&gt;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6FC0"/>
                </a:solidFill>
                <a:latin typeface="Cambria"/>
                <a:cs typeface="Cambria"/>
              </a:rPr>
              <a:t>Paragraph.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85" dirty="0">
                <a:latin typeface="Cambria"/>
                <a:cs typeface="Cambria"/>
              </a:rPr>
              <a:t>Attributes:</a:t>
            </a:r>
            <a:r>
              <a:rPr sz="2400" b="1" spc="2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align=justify,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center,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left,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right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latin typeface="Cambria"/>
                <a:cs typeface="Cambria"/>
              </a:rPr>
              <a:t>&lt;pre&gt;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&lt;/pre&gt;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Pre</a:t>
            </a:r>
            <a:r>
              <a:rPr sz="2400" spc="2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formatted</a:t>
            </a:r>
            <a:r>
              <a:rPr sz="2400" spc="2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06FC0"/>
                </a:solidFill>
                <a:latin typeface="Cambria"/>
                <a:cs typeface="Cambria"/>
              </a:rPr>
              <a:t>paragraph</a:t>
            </a:r>
            <a:r>
              <a:rPr sz="2400" spc="2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6FC0"/>
                </a:solidFill>
                <a:latin typeface="Cambria"/>
                <a:cs typeface="Cambria"/>
              </a:rPr>
              <a:t>text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5" dirty="0">
                <a:latin typeface="Cambria"/>
                <a:cs typeface="Cambria"/>
              </a:rPr>
              <a:t>&lt;br&gt;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latin typeface="Cambria"/>
                <a:cs typeface="Cambria"/>
              </a:rPr>
              <a:t>&lt;hr&gt;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latin typeface="Cambria"/>
                <a:cs typeface="Cambria"/>
              </a:rPr>
              <a:t>&lt;center&gt;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&lt;/center&gt;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90" dirty="0">
                <a:latin typeface="Cambria"/>
                <a:cs typeface="Cambria"/>
              </a:rPr>
              <a:t>Entity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756410" algn="l"/>
                <a:tab pos="2936240" algn="l"/>
                <a:tab pos="3936365" algn="l"/>
              </a:tabLst>
            </a:pPr>
            <a:r>
              <a:rPr sz="2400" b="1" spc="60" dirty="0">
                <a:latin typeface="Cambria"/>
                <a:cs typeface="Cambria"/>
              </a:rPr>
              <a:t>Ex:</a:t>
            </a:r>
            <a:r>
              <a:rPr sz="2400" b="1" spc="19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&amp;nbsp;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80" dirty="0">
                <a:latin typeface="Cambria"/>
                <a:cs typeface="Cambria"/>
              </a:rPr>
              <a:t>&amp;copy;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&amp;larr;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65" dirty="0">
                <a:latin typeface="Cambria"/>
                <a:cs typeface="Cambria"/>
              </a:rPr>
              <a:t>&amp;lArr;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215" dirty="0"/>
              <a:t> </a:t>
            </a:r>
            <a:r>
              <a:rPr dirty="0"/>
              <a:t>Tags:</a:t>
            </a:r>
            <a:r>
              <a:rPr spc="265" dirty="0"/>
              <a:t> </a:t>
            </a:r>
            <a:r>
              <a:rPr dirty="0"/>
              <a:t>Text</a:t>
            </a:r>
            <a:r>
              <a:rPr spc="254" dirty="0"/>
              <a:t> </a:t>
            </a:r>
            <a:r>
              <a:rPr dirty="0"/>
              <a:t>Formatting</a:t>
            </a:r>
            <a:r>
              <a:rPr spc="245" dirty="0"/>
              <a:t> </a:t>
            </a:r>
            <a:r>
              <a:rPr spc="-20" dirty="0"/>
              <a:t>Tags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9542145" cy="606298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&lt;b&gt;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&lt;/b&gt;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6FC0"/>
                </a:solidFill>
                <a:latin typeface="Cambria"/>
                <a:cs typeface="Cambria"/>
              </a:rPr>
              <a:t>Bold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latin typeface="Cambria"/>
                <a:cs typeface="Cambria"/>
              </a:rPr>
              <a:t>&lt;strong&gt;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&lt;strong&gt;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Bold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&lt;u&gt;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&lt;/u&gt;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06FC0"/>
                </a:solidFill>
                <a:latin typeface="Cambria"/>
                <a:cs typeface="Cambria"/>
              </a:rPr>
              <a:t>Underline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&lt;ins&gt;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&lt;/ins&gt;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Inserted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latin typeface="Cambria"/>
                <a:cs typeface="Cambria"/>
              </a:rPr>
              <a:t>&lt;i&gt;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&lt;/i&gt;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6FC0"/>
                </a:solidFill>
                <a:latin typeface="Cambria"/>
                <a:cs typeface="Cambria"/>
              </a:rPr>
              <a:t>Italic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5" dirty="0">
                <a:latin typeface="Cambria"/>
                <a:cs typeface="Cambria"/>
              </a:rPr>
              <a:t>&lt;em&gt;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content_text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&lt;/em&gt;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006FC0"/>
                </a:solidFill>
                <a:latin typeface="Cambria"/>
                <a:cs typeface="Cambria"/>
              </a:rPr>
              <a:t>Emphasized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&lt;mark&gt;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&lt;/mark&gt;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06FC0"/>
                </a:solidFill>
                <a:latin typeface="Cambria"/>
                <a:cs typeface="Cambria"/>
              </a:rPr>
              <a:t>Marked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&lt;small&gt;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&lt;/small&gt;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Smaller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latin typeface="Cambria"/>
                <a:cs typeface="Cambria"/>
              </a:rPr>
              <a:t>&lt;del&gt;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&lt;/del&gt;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06FC0"/>
                </a:solidFill>
                <a:latin typeface="Cambria"/>
                <a:cs typeface="Cambria"/>
              </a:rPr>
              <a:t>Deleted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5" dirty="0">
                <a:latin typeface="Cambria"/>
                <a:cs typeface="Cambria"/>
              </a:rPr>
              <a:t>&lt;sub&gt;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content_text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&lt;/sub&gt;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Subscript</a:t>
            </a:r>
            <a:r>
              <a:rPr sz="2400" spc="254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b="1" spc="60" dirty="0">
                <a:latin typeface="Cambria"/>
                <a:cs typeface="Cambria"/>
              </a:rPr>
              <a:t>Ex:</a:t>
            </a:r>
            <a:r>
              <a:rPr sz="2400" b="1" spc="210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H2SO4,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215" dirty="0">
                <a:latin typeface="Cambria"/>
                <a:cs typeface="Cambria"/>
              </a:rPr>
              <a:t>CO2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50" dirty="0">
                <a:latin typeface="Cambria"/>
                <a:cs typeface="Cambria"/>
              </a:rPr>
              <a:t>&lt;sup&gt;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content_text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&lt;/sup&gt;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06FC0"/>
                </a:solidFill>
                <a:latin typeface="Cambria"/>
                <a:cs typeface="Cambria"/>
              </a:rPr>
              <a:t>Superscript</a:t>
            </a:r>
            <a:r>
              <a:rPr sz="2400" spc="2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b="1" spc="60" dirty="0">
                <a:latin typeface="Cambria"/>
                <a:cs typeface="Cambria"/>
              </a:rPr>
              <a:t>Ex:</a:t>
            </a:r>
            <a:r>
              <a:rPr sz="2400" b="1" spc="20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(a+b)2=a2+b2+2ab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170" dirty="0"/>
              <a:t> </a:t>
            </a:r>
            <a:r>
              <a:rPr dirty="0"/>
              <a:t>Tags:</a:t>
            </a:r>
            <a:r>
              <a:rPr spc="215" dirty="0"/>
              <a:t> </a:t>
            </a:r>
            <a:r>
              <a:rPr spc="75" dirty="0"/>
              <a:t>Font</a:t>
            </a:r>
            <a:r>
              <a:rPr spc="210" dirty="0"/>
              <a:t> </a:t>
            </a:r>
            <a:r>
              <a:rPr dirty="0"/>
              <a:t>Tag</a:t>
            </a:r>
            <a:r>
              <a:rPr spc="245" dirty="0"/>
              <a:t> </a:t>
            </a:r>
            <a:r>
              <a:rPr spc="265" dirty="0"/>
              <a:t>&amp;</a:t>
            </a:r>
            <a:r>
              <a:rPr spc="229" dirty="0"/>
              <a:t> </a:t>
            </a:r>
            <a:r>
              <a:rPr spc="-10" dirty="0"/>
              <a:t>Background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10215245" cy="551434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55" dirty="0">
                <a:latin typeface="Cambria"/>
                <a:cs typeface="Cambria"/>
              </a:rPr>
              <a:t>&lt;font&gt;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Any_content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&lt;/font&gt;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85" dirty="0">
                <a:latin typeface="Cambria"/>
                <a:cs typeface="Cambria"/>
              </a:rPr>
              <a:t>Attributes:</a:t>
            </a:r>
            <a:r>
              <a:rPr sz="2400" b="1" spc="204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color=color_name,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size=1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to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7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,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face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=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Times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New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Roman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95" dirty="0">
                <a:latin typeface="Cambria"/>
                <a:cs typeface="Cambria"/>
              </a:rPr>
              <a:t>Attributes</a:t>
            </a:r>
            <a:r>
              <a:rPr sz="2400" b="1" spc="215" dirty="0">
                <a:latin typeface="Cambria"/>
                <a:cs typeface="Cambria"/>
              </a:rPr>
              <a:t> </a:t>
            </a:r>
            <a:r>
              <a:rPr sz="2400" b="1" spc="70" dirty="0">
                <a:latin typeface="Cambria"/>
                <a:cs typeface="Cambria"/>
              </a:rPr>
              <a:t>in</a:t>
            </a:r>
            <a:r>
              <a:rPr sz="2400" b="1" spc="220" dirty="0">
                <a:latin typeface="Cambria"/>
                <a:cs typeface="Cambria"/>
              </a:rPr>
              <a:t> </a:t>
            </a:r>
            <a:r>
              <a:rPr sz="2400" b="1" spc="85" dirty="0">
                <a:latin typeface="Cambria"/>
                <a:cs typeface="Cambria"/>
              </a:rPr>
              <a:t>the</a:t>
            </a:r>
            <a:r>
              <a:rPr sz="2400" b="1" spc="21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body</a:t>
            </a:r>
            <a:r>
              <a:rPr sz="2400" b="1" spc="245" dirty="0">
                <a:latin typeface="Cambria"/>
                <a:cs typeface="Cambria"/>
              </a:rPr>
              <a:t> </a:t>
            </a:r>
            <a:r>
              <a:rPr sz="2400" b="1" spc="65" dirty="0">
                <a:latin typeface="Cambria"/>
                <a:cs typeface="Cambria"/>
              </a:rPr>
              <a:t>tag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bgcolor=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color_name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latin typeface="Cambria"/>
                <a:cs typeface="Cambria"/>
              </a:rPr>
              <a:t>Background=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image_location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latin typeface="Cambria"/>
                <a:cs typeface="Cambria"/>
              </a:rPr>
              <a:t>contenteditable="true“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latin typeface="Cambria"/>
                <a:cs typeface="Cambria"/>
              </a:rPr>
              <a:t>popover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with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id,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popovertarget=“id“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85" dirty="0">
                <a:latin typeface="Cambria"/>
                <a:cs typeface="Cambria"/>
              </a:rPr>
              <a:t>Note:</a:t>
            </a:r>
            <a:r>
              <a:rPr sz="2400" b="1" spc="19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Also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applicable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the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marquee,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table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th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td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tags.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170" dirty="0"/>
              <a:t> </a:t>
            </a:r>
            <a:r>
              <a:rPr dirty="0"/>
              <a:t>Tags:</a:t>
            </a:r>
            <a:r>
              <a:rPr spc="215" dirty="0"/>
              <a:t> </a:t>
            </a:r>
            <a:r>
              <a:rPr spc="90" dirty="0"/>
              <a:t>Links</a:t>
            </a:r>
            <a:r>
              <a:rPr spc="225" dirty="0"/>
              <a:t> </a:t>
            </a:r>
            <a:r>
              <a:rPr spc="-25" dirty="0"/>
              <a:t>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847420"/>
            <a:ext cx="9002395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&lt;a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href=“”&gt;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&lt;/a&gt;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120" dirty="0">
                <a:latin typeface="Cambria"/>
                <a:cs typeface="Cambria"/>
              </a:rPr>
              <a:t>Uses</a:t>
            </a:r>
            <a:r>
              <a:rPr sz="2400" b="1" spc="260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of</a:t>
            </a:r>
            <a:r>
              <a:rPr sz="2400" b="1" spc="229" dirty="0">
                <a:latin typeface="Cambria"/>
                <a:cs typeface="Cambria"/>
              </a:rPr>
              <a:t> </a:t>
            </a:r>
            <a:r>
              <a:rPr sz="2400" b="1" spc="85" dirty="0">
                <a:latin typeface="Cambria"/>
                <a:cs typeface="Cambria"/>
              </a:rPr>
              <a:t>the</a:t>
            </a:r>
            <a:r>
              <a:rPr sz="2400" b="1" spc="220" dirty="0">
                <a:latin typeface="Cambria"/>
                <a:cs typeface="Cambria"/>
              </a:rPr>
              <a:t> </a:t>
            </a:r>
            <a:r>
              <a:rPr sz="2400" b="1" spc="90" dirty="0">
                <a:latin typeface="Cambria"/>
                <a:cs typeface="Cambria"/>
              </a:rPr>
              <a:t>anchor</a:t>
            </a:r>
            <a:r>
              <a:rPr sz="2400" b="1" spc="204" dirty="0">
                <a:latin typeface="Cambria"/>
                <a:cs typeface="Cambria"/>
              </a:rPr>
              <a:t> </a:t>
            </a:r>
            <a:r>
              <a:rPr sz="2400" b="1" spc="35" dirty="0">
                <a:latin typeface="Cambria"/>
                <a:cs typeface="Cambria"/>
              </a:rPr>
              <a:t>tag: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latin typeface="Cambria"/>
                <a:cs typeface="Cambria"/>
              </a:rPr>
              <a:t>Link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multiple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pages: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href=“page_name”.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Not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link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page: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href=“#”.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5" dirty="0">
                <a:latin typeface="Cambria"/>
                <a:cs typeface="Cambria"/>
              </a:rPr>
              <a:t>Download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link: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href="file_path“.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add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download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attribute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80" dirty="0">
                <a:latin typeface="Cambria"/>
                <a:cs typeface="Cambria"/>
              </a:rPr>
              <a:t>Open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in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new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tab: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attribute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target=“_blank”.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70" dirty="0">
                <a:latin typeface="Cambria"/>
                <a:cs typeface="Cambria"/>
              </a:rPr>
              <a:t>Live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link: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href=“https://softvyom.com/”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any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site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URL.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240" dirty="0"/>
              <a:t> </a:t>
            </a:r>
            <a:r>
              <a:rPr dirty="0"/>
              <a:t>Tags:</a:t>
            </a:r>
            <a:r>
              <a:rPr spc="290" dirty="0"/>
              <a:t> </a:t>
            </a:r>
            <a:r>
              <a:rPr dirty="0"/>
              <a:t>Media</a:t>
            </a:r>
            <a:r>
              <a:rPr spc="265" dirty="0"/>
              <a:t> </a:t>
            </a:r>
            <a:r>
              <a:rPr spc="-25" dirty="0"/>
              <a:t>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10199370" cy="277050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&lt;audio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src=“”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controls&gt;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&lt;/audio&gt;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latin typeface="Cambria"/>
                <a:cs typeface="Cambria"/>
              </a:rPr>
              <a:t>&lt;video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src=“”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controls&gt;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&lt;/video&gt;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55" dirty="0">
                <a:latin typeface="Cambria"/>
                <a:cs typeface="Cambria"/>
              </a:rPr>
              <a:t>&lt;img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src=“”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alt=“”&gt;</a:t>
            </a:r>
            <a:endParaRPr sz="2400">
              <a:latin typeface="Cambria"/>
              <a:cs typeface="Cambria"/>
            </a:endParaRPr>
          </a:p>
          <a:p>
            <a:pPr marL="355600" marR="5080" indent="-342900">
              <a:lnSpc>
                <a:spcPct val="15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150" dirty="0">
                <a:latin typeface="Cambria"/>
                <a:cs typeface="Cambria"/>
              </a:rPr>
              <a:t>Google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map: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Search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Google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map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location,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select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the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point,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click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on </a:t>
            </a:r>
            <a:r>
              <a:rPr sz="2400" spc="120" dirty="0">
                <a:latin typeface="Cambria"/>
                <a:cs typeface="Cambria"/>
              </a:rPr>
              <a:t>share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embed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code,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and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paste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code.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200" dirty="0"/>
              <a:t> </a:t>
            </a:r>
            <a:r>
              <a:rPr dirty="0"/>
              <a:t>Tags:</a:t>
            </a:r>
            <a:r>
              <a:rPr spc="250" dirty="0"/>
              <a:t> </a:t>
            </a:r>
            <a:r>
              <a:rPr dirty="0"/>
              <a:t>Marquee</a:t>
            </a:r>
            <a:r>
              <a:rPr spc="229" dirty="0"/>
              <a:t> </a:t>
            </a:r>
            <a:r>
              <a:rPr spc="265" dirty="0"/>
              <a:t>&amp;</a:t>
            </a:r>
            <a:r>
              <a:rPr spc="270" dirty="0"/>
              <a:t> </a:t>
            </a:r>
            <a:r>
              <a:rPr dirty="0"/>
              <a:t>Favicon</a:t>
            </a:r>
            <a:r>
              <a:rPr spc="245" dirty="0"/>
              <a:t> </a:t>
            </a:r>
            <a:r>
              <a:rPr spc="-25" dirty="0"/>
              <a:t>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10931525" cy="496570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&lt;marquee&gt;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&lt;/marquee&gt;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75" dirty="0">
                <a:latin typeface="Cambria"/>
                <a:cs typeface="Cambria"/>
              </a:rPr>
              <a:t>Attributes: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latin typeface="Cambria"/>
                <a:cs typeface="Cambria"/>
              </a:rPr>
              <a:t>direction=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left,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right,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up,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down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latin typeface="Cambria"/>
                <a:cs typeface="Cambria"/>
              </a:rPr>
              <a:t>Behavior=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scroll,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slide,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alternate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latin typeface="Cambria"/>
                <a:cs typeface="Cambria"/>
              </a:rPr>
              <a:t>Scrollamount=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10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Any_Number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60" dirty="0">
                <a:latin typeface="Cambria"/>
                <a:cs typeface="Cambria"/>
              </a:rPr>
              <a:t>onmouse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over/out=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“this.stop();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this.start();”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85" dirty="0">
                <a:latin typeface="Cambria"/>
                <a:cs typeface="Cambria"/>
              </a:rPr>
              <a:t>Favicon: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  <a:tab pos="4989195" algn="l"/>
              </a:tabLst>
            </a:pPr>
            <a:r>
              <a:rPr sz="2400" spc="125" dirty="0">
                <a:latin typeface="Cambria"/>
                <a:cs typeface="Cambria"/>
              </a:rPr>
              <a:t>&lt;link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rel="stylesheet"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href=""&gt;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35" dirty="0">
                <a:latin typeface="Cambria"/>
                <a:cs typeface="Cambria"/>
              </a:rPr>
              <a:t>Use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title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rel=“icon”,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link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External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70" dirty="0"/>
              <a:t> </a:t>
            </a:r>
            <a:r>
              <a:rPr dirty="0"/>
              <a:t>Tags:</a:t>
            </a:r>
            <a:r>
              <a:rPr spc="110" dirty="0"/>
              <a:t> </a:t>
            </a:r>
            <a:r>
              <a:rPr dirty="0"/>
              <a:t>Tables</a:t>
            </a:r>
            <a:r>
              <a:rPr spc="75" dirty="0"/>
              <a:t> </a:t>
            </a:r>
            <a:r>
              <a:rPr spc="-25" dirty="0"/>
              <a:t>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4904105" cy="496570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latin typeface="Cambria"/>
                <a:cs typeface="Cambria"/>
              </a:rPr>
              <a:t>&lt;table&gt;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row_tag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&lt;/table&gt;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latin typeface="Cambria"/>
                <a:cs typeface="Cambria"/>
              </a:rPr>
              <a:t>&lt;tr&gt;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Any_subtag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&lt;/tr&gt;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&lt;th&gt;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&lt;/th&gt;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&lt;td&gt;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&lt;/td&gt;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75" dirty="0">
                <a:latin typeface="Cambria"/>
                <a:cs typeface="Cambria"/>
              </a:rPr>
              <a:t>Attributes: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latin typeface="Cambria"/>
                <a:cs typeface="Cambria"/>
              </a:rPr>
              <a:t>colspan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latin typeface="Cambria"/>
                <a:cs typeface="Cambria"/>
              </a:rPr>
              <a:t>rowspan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cellpadding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latin typeface="Cambria"/>
                <a:cs typeface="Cambria"/>
              </a:rPr>
              <a:t>cellspacing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110" dirty="0"/>
              <a:t> </a:t>
            </a:r>
            <a:r>
              <a:rPr dirty="0"/>
              <a:t>Tags:</a:t>
            </a:r>
            <a:r>
              <a:rPr spc="155" dirty="0"/>
              <a:t> </a:t>
            </a:r>
            <a:r>
              <a:rPr spc="135" dirty="0"/>
              <a:t>List</a:t>
            </a:r>
            <a:r>
              <a:rPr spc="150" dirty="0"/>
              <a:t> </a:t>
            </a:r>
            <a:r>
              <a:rPr spc="265" dirty="0"/>
              <a:t>&amp;</a:t>
            </a:r>
            <a:r>
              <a:rPr spc="195" dirty="0"/>
              <a:t> </a:t>
            </a:r>
            <a:r>
              <a:rPr dirty="0"/>
              <a:t>Description</a:t>
            </a:r>
            <a:r>
              <a:rPr spc="150" dirty="0"/>
              <a:t> </a:t>
            </a:r>
            <a:r>
              <a:rPr spc="-25" dirty="0"/>
              <a:t>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5867400" cy="551434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latin typeface="Cambria"/>
                <a:cs typeface="Cambria"/>
              </a:rPr>
              <a:t>&lt;ul&gt;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list_item_tag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&lt;/ul&gt;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&lt;ol&gt;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list_item_tag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&lt;/ol&gt;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latin typeface="Cambria"/>
                <a:cs typeface="Cambria"/>
              </a:rPr>
              <a:t>&lt;li&gt;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&lt;/li&gt;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b="1" spc="75" dirty="0">
                <a:latin typeface="Cambria"/>
                <a:cs typeface="Cambria"/>
              </a:rPr>
              <a:t>Attributes: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Type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of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ul=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disc,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circle,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square,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none.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Type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of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ol=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1,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a,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204" dirty="0">
                <a:latin typeface="Cambria"/>
                <a:cs typeface="Cambria"/>
              </a:rPr>
              <a:t>A,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i,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I.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65" dirty="0">
                <a:latin typeface="Cambria"/>
                <a:cs typeface="Cambria"/>
              </a:rPr>
              <a:t>Description: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&lt;dl&gt;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&lt;dt&gt;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&lt;dd&gt;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3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latin typeface="Cambria"/>
                <a:cs typeface="Cambria"/>
              </a:rPr>
              <a:t>line,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term,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definition.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200" dirty="0"/>
              <a:t> </a:t>
            </a:r>
            <a:r>
              <a:rPr dirty="0"/>
              <a:t>Tags:</a:t>
            </a:r>
            <a:r>
              <a:rPr spc="275" dirty="0"/>
              <a:t> </a:t>
            </a:r>
            <a:r>
              <a:rPr dirty="0"/>
              <a:t>Block,</a:t>
            </a:r>
            <a:r>
              <a:rPr spc="235" dirty="0"/>
              <a:t> </a:t>
            </a:r>
            <a:r>
              <a:rPr dirty="0"/>
              <a:t>Inline</a:t>
            </a:r>
            <a:r>
              <a:rPr spc="275" dirty="0"/>
              <a:t> </a:t>
            </a:r>
            <a:r>
              <a:rPr spc="265" dirty="0"/>
              <a:t>&amp;</a:t>
            </a:r>
            <a:r>
              <a:rPr spc="285" dirty="0"/>
              <a:t> </a:t>
            </a:r>
            <a:r>
              <a:rPr spc="-10" dirty="0"/>
              <a:t>QuotationTag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64036"/>
            <a:ext cx="9119235" cy="551434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&lt;div&gt;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&lt;/div&gt;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&lt;span&gt;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&lt;/span&gt;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75" dirty="0">
                <a:latin typeface="Cambria"/>
                <a:cs typeface="Cambria"/>
              </a:rPr>
              <a:t>Quotation: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&lt;blockquote&gt;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tag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&lt;/blockquote&gt;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5" dirty="0">
                <a:latin typeface="Cambria"/>
                <a:cs typeface="Cambria"/>
              </a:rPr>
              <a:t>&lt;q&gt;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&lt;/q&gt;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&lt;address&gt;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Any_content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&lt;/address&gt;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latin typeface="Cambria"/>
                <a:cs typeface="Cambria"/>
              </a:rPr>
              <a:t>&lt;cite&gt;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Any_content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&lt;/cite&gt;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55" dirty="0">
                <a:latin typeface="Cambria"/>
                <a:cs typeface="Cambria"/>
              </a:rPr>
              <a:t>&lt;bdo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dir=“rtl”&gt;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Any_content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&lt;/bdo&gt;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210" dirty="0">
                <a:latin typeface="Cambria"/>
                <a:cs typeface="Cambria"/>
              </a:rPr>
              <a:t>OR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dir=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“ltr”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3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latin typeface="Cambria"/>
                <a:cs typeface="Cambria"/>
              </a:rPr>
              <a:t>&lt;abbr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title=“Content’s_abbreviation”&gt;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Any_content&lt;/abbr&gt;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235" dirty="0"/>
              <a:t> </a:t>
            </a:r>
            <a:r>
              <a:rPr dirty="0"/>
              <a:t>Tags:</a:t>
            </a:r>
            <a:r>
              <a:rPr spc="305" dirty="0"/>
              <a:t> </a:t>
            </a:r>
            <a:r>
              <a:rPr dirty="0"/>
              <a:t>Input</a:t>
            </a:r>
            <a:r>
              <a:rPr spc="275" dirty="0"/>
              <a:t> </a:t>
            </a:r>
            <a:r>
              <a:rPr spc="265" dirty="0"/>
              <a:t>&amp;</a:t>
            </a:r>
            <a:r>
              <a:rPr spc="300" dirty="0"/>
              <a:t> </a:t>
            </a:r>
            <a:r>
              <a:rPr dirty="0"/>
              <a:t>Forms</a:t>
            </a:r>
            <a:r>
              <a:rPr spc="305" dirty="0"/>
              <a:t> </a:t>
            </a:r>
            <a:r>
              <a:rPr spc="-25" dirty="0"/>
              <a:t>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10789285" cy="587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  <a:tab pos="6840855" algn="l"/>
              </a:tabLst>
            </a:pPr>
            <a:r>
              <a:rPr sz="2400" spc="140" dirty="0">
                <a:latin typeface="Cambria"/>
                <a:cs typeface="Cambria"/>
              </a:rPr>
              <a:t>&lt;input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type="text"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name=“username"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id=""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5" dirty="0">
                <a:latin typeface="Cambria"/>
                <a:cs typeface="Cambria"/>
              </a:rPr>
              <a:t>required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105" dirty="0">
                <a:latin typeface="Cambria"/>
                <a:cs typeface="Cambria"/>
              </a:rPr>
              <a:t>placeholder="Enter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Your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Name"&gt;</a:t>
            </a:r>
            <a:endParaRPr sz="2400">
              <a:latin typeface="Cambria"/>
              <a:cs typeface="Cambria"/>
            </a:endParaRPr>
          </a:p>
          <a:p>
            <a:pPr marL="355600" marR="1323340" indent="-34290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135" dirty="0">
                <a:latin typeface="Cambria"/>
                <a:cs typeface="Cambria"/>
              </a:rPr>
              <a:t>&lt;input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type="password"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name="userpassowrd"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required </a:t>
            </a:r>
            <a:r>
              <a:rPr sz="2400" spc="105" dirty="0">
                <a:latin typeface="Cambria"/>
                <a:cs typeface="Cambria"/>
              </a:rPr>
              <a:t>placeholder="Enter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Strong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Password"&gt;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&lt;input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type="tel"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name="usermobile"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required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</a:pPr>
            <a:r>
              <a:rPr sz="2400" spc="105" dirty="0">
                <a:latin typeface="Cambria"/>
                <a:cs typeface="Cambria"/>
              </a:rPr>
              <a:t>placeholder="Enter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Mobile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No"&gt;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&lt;input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type="number"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name="userage"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placeholder="Enter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Age"&gt;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&lt;input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type="email"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name="useremail"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&lt;input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type="file"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name="userfile"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id=""&gt;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&lt;input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type="month"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name="usermonth"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&lt;input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type="date"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name="userdob"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required&gt;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&lt;input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type="time"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name="usertime"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id=""&gt;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&lt;input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type="datetime-local"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name="userdatetime"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id=""&gt;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44" y="25095"/>
            <a:ext cx="7649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45" dirty="0"/>
              <a:t>HTML</a:t>
            </a:r>
            <a:r>
              <a:rPr spc="235" dirty="0"/>
              <a:t> </a:t>
            </a:r>
            <a:r>
              <a:rPr dirty="0"/>
              <a:t>Tags:</a:t>
            </a:r>
            <a:r>
              <a:rPr spc="305" dirty="0"/>
              <a:t> </a:t>
            </a:r>
            <a:r>
              <a:rPr dirty="0"/>
              <a:t>Input</a:t>
            </a:r>
            <a:r>
              <a:rPr spc="275" dirty="0"/>
              <a:t> </a:t>
            </a:r>
            <a:r>
              <a:rPr spc="265" dirty="0"/>
              <a:t>&amp;</a:t>
            </a:r>
            <a:r>
              <a:rPr spc="300" dirty="0"/>
              <a:t> </a:t>
            </a:r>
            <a:r>
              <a:rPr dirty="0"/>
              <a:t>Forms</a:t>
            </a:r>
            <a:r>
              <a:rPr spc="305" dirty="0"/>
              <a:t> </a:t>
            </a:r>
            <a:r>
              <a:rPr spc="-25" dirty="0"/>
              <a:t>Tag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42792"/>
            <a:ext cx="10661015" cy="597154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2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&lt;input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type="checkbox"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name="useragree"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required&gt;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&lt;input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type="radio"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name="useroption"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required&gt;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latin typeface="Cambria"/>
                <a:cs typeface="Cambria"/>
              </a:rPr>
              <a:t>&lt;textarea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name="usermessage"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cols="30"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rows="5"&gt;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&lt;/textarea&gt;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latin typeface="Cambria"/>
                <a:cs typeface="Cambria"/>
              </a:rPr>
              <a:t>&lt;select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name="usercity"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id=""&gt;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&lt;option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value="Indore"&gt;Indore&lt;/option&gt;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&lt;option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value="Bhopal"&gt;Bhopal&lt;/option&gt;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latin typeface="Cambria"/>
                <a:cs typeface="Cambria"/>
              </a:rPr>
              <a:t>&lt;/select&gt;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latin typeface="Cambria"/>
                <a:cs typeface="Cambria"/>
              </a:rPr>
              <a:t>&lt;input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type="submit"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value="Click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to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Register"&gt;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&lt;input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type="reset"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value="Click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Clear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form"&gt;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60" dirty="0">
                <a:latin typeface="Cambria"/>
                <a:cs typeface="Cambria"/>
              </a:rPr>
              <a:t>&lt;form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action="success.html/Server_name"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method="post“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</a:pPr>
            <a:r>
              <a:rPr sz="2400" spc="120" dirty="0">
                <a:latin typeface="Cambria"/>
                <a:cs typeface="Cambria"/>
              </a:rPr>
              <a:t>enctype="multipart/form-</a:t>
            </a:r>
            <a:r>
              <a:rPr sz="2400" spc="95" dirty="0">
                <a:latin typeface="Cambria"/>
                <a:cs typeface="Cambria"/>
              </a:rPr>
              <a:t>data"&gt;</a:t>
            </a:r>
            <a:endParaRPr sz="2400">
              <a:latin typeface="Cambria"/>
              <a:cs typeface="Cambria"/>
            </a:endParaRPr>
          </a:p>
          <a:p>
            <a:pPr marL="381000">
              <a:lnSpc>
                <a:spcPct val="100000"/>
              </a:lnSpc>
            </a:pPr>
            <a:r>
              <a:rPr sz="2400" spc="130" dirty="0">
                <a:latin typeface="Cambria"/>
                <a:cs typeface="Cambria"/>
              </a:rPr>
              <a:t>&lt;/form&gt;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8869" y="302463"/>
            <a:ext cx="8955405" cy="850874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706245" marR="5080" indent="-1693545" algn="ctr">
              <a:lnSpc>
                <a:spcPts val="5830"/>
              </a:lnSpc>
              <a:spcBef>
                <a:spcPts val="835"/>
              </a:spcBef>
            </a:pPr>
            <a:r>
              <a:rPr sz="5400" spc="925" dirty="0"/>
              <a:t>Welcome</a:t>
            </a:r>
            <a:endParaRPr sz="5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15654" y="2589176"/>
            <a:ext cx="8425180" cy="1091565"/>
            <a:chOff x="1915654" y="2589176"/>
            <a:chExt cx="8425180" cy="10915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5654" y="2589176"/>
              <a:ext cx="8424691" cy="10913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6843" y="2600578"/>
              <a:ext cx="8338184" cy="100431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390769" y="4060444"/>
            <a:ext cx="1433195" cy="626745"/>
            <a:chOff x="5390769" y="4060444"/>
            <a:chExt cx="1433195" cy="62674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5615" y="4075170"/>
              <a:ext cx="1418106" cy="61189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90769" y="4060444"/>
              <a:ext cx="1401318" cy="5953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70" dirty="0"/>
              <a:t>CSS:</a:t>
            </a:r>
            <a:r>
              <a:rPr spc="225" dirty="0"/>
              <a:t> </a:t>
            </a:r>
            <a:r>
              <a:rPr spc="-2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6168"/>
            <a:ext cx="8201025" cy="551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100" dirty="0">
                <a:latin typeface="Cambria"/>
                <a:cs typeface="Cambria"/>
              </a:rPr>
              <a:t>#</a:t>
            </a:r>
            <a:r>
              <a:rPr sz="2400" b="1" spc="225" dirty="0">
                <a:latin typeface="Cambria"/>
                <a:cs typeface="Cambria"/>
              </a:rPr>
              <a:t> </a:t>
            </a:r>
            <a:r>
              <a:rPr sz="2400" b="1" spc="100" dirty="0">
                <a:latin typeface="Cambria"/>
                <a:cs typeface="Cambria"/>
              </a:rPr>
              <a:t>CSS:</a:t>
            </a:r>
            <a:r>
              <a:rPr sz="2400" b="1" spc="27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cascading</a:t>
            </a:r>
            <a:r>
              <a:rPr sz="2400" b="1" spc="210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style</a:t>
            </a:r>
            <a:r>
              <a:rPr sz="2400" b="1" spc="215" dirty="0">
                <a:latin typeface="Cambria"/>
                <a:cs typeface="Cambria"/>
              </a:rPr>
              <a:t> </a:t>
            </a:r>
            <a:r>
              <a:rPr sz="2400" b="1" spc="85" dirty="0">
                <a:latin typeface="Cambria"/>
                <a:cs typeface="Cambria"/>
              </a:rPr>
              <a:t>sheets.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spc="110" dirty="0">
                <a:latin typeface="Cambria"/>
                <a:cs typeface="Cambria"/>
              </a:rPr>
              <a:t>Norwegian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#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Mr.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Hakon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wium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Lie,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CERN,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CSS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founder.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30" dirty="0">
                <a:latin typeface="Cambria"/>
                <a:cs typeface="Cambria"/>
              </a:rPr>
              <a:t>1994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to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96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CSS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1.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File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“.CSS”,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W3_Consortium,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456940" algn="l"/>
              </a:tabLst>
            </a:pPr>
            <a:r>
              <a:rPr sz="2400" spc="155" dirty="0">
                <a:latin typeface="Cambria"/>
                <a:cs typeface="Cambria"/>
              </a:rPr>
              <a:t>CSS1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text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size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color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30" dirty="0">
                <a:latin typeface="Cambria"/>
                <a:cs typeface="Cambria"/>
              </a:rPr>
              <a:t>=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1996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072130" algn="l"/>
              </a:tabLst>
            </a:pPr>
            <a:r>
              <a:rPr sz="2400" spc="155" dirty="0">
                <a:latin typeface="Cambria"/>
                <a:cs typeface="Cambria"/>
              </a:rPr>
              <a:t>CSS2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page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layout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35" dirty="0">
                <a:latin typeface="Cambria"/>
                <a:cs typeface="Cambria"/>
              </a:rPr>
              <a:t>97.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2.1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=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1998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55" dirty="0">
                <a:latin typeface="Cambria"/>
                <a:cs typeface="Cambria"/>
              </a:rPr>
              <a:t>CSS3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presentation,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wide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range,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border,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85" dirty="0">
                <a:latin typeface="Cambria"/>
                <a:cs typeface="Cambria"/>
              </a:rPr>
              <a:t>mods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=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1999.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55" dirty="0">
                <a:latin typeface="Cambria"/>
                <a:cs typeface="Cambria"/>
              </a:rPr>
              <a:t>CSS3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Final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12-</a:t>
            </a:r>
            <a:r>
              <a:rPr sz="2400" spc="110" dirty="0">
                <a:latin typeface="Cambria"/>
                <a:cs typeface="Cambria"/>
              </a:rPr>
              <a:t>Apr-2016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155" dirty="0">
                <a:latin typeface="Cambria"/>
                <a:cs typeface="Cambria"/>
              </a:rPr>
              <a:t>CSS</a:t>
            </a:r>
            <a:r>
              <a:rPr sz="2400" b="1" spc="280" dirty="0">
                <a:latin typeface="Cambria"/>
                <a:cs typeface="Cambria"/>
              </a:rPr>
              <a:t> </a:t>
            </a:r>
            <a:r>
              <a:rPr sz="2400" b="1" spc="85" dirty="0">
                <a:latin typeface="Cambria"/>
                <a:cs typeface="Cambria"/>
              </a:rPr>
              <a:t>Importance</a:t>
            </a:r>
            <a:r>
              <a:rPr sz="2400" b="1" spc="2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/</a:t>
            </a:r>
            <a:r>
              <a:rPr sz="2400" b="1" spc="229" dirty="0">
                <a:latin typeface="Cambria"/>
                <a:cs typeface="Cambria"/>
              </a:rPr>
              <a:t> </a:t>
            </a:r>
            <a:r>
              <a:rPr sz="2400" b="1" spc="60" dirty="0">
                <a:latin typeface="Cambria"/>
                <a:cs typeface="Cambria"/>
              </a:rPr>
              <a:t>Requirement: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30" dirty="0">
                <a:latin typeface="Cambria"/>
                <a:cs typeface="Cambria"/>
              </a:rPr>
              <a:t>effective,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interactive,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impressive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Web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Site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50" dirty="0">
                <a:latin typeface="Cambria"/>
                <a:cs typeface="Cambria"/>
              </a:rPr>
              <a:t>Animations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apply.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114" dirty="0">
                <a:latin typeface="Cambria"/>
                <a:cs typeface="Cambria"/>
              </a:rPr>
              <a:t>Special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effects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transformation.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20" dirty="0">
                <a:latin typeface="Cambria"/>
                <a:cs typeface="Cambria"/>
              </a:rPr>
              <a:t>Responsive.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05" dirty="0">
                <a:latin typeface="Cambria"/>
                <a:cs typeface="Cambria"/>
              </a:rPr>
              <a:t>Fast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development.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44" y="25095"/>
            <a:ext cx="8406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70" dirty="0"/>
              <a:t>CSS:</a:t>
            </a:r>
            <a:r>
              <a:rPr spc="30" dirty="0"/>
              <a:t> </a:t>
            </a:r>
            <a:r>
              <a:rPr dirty="0"/>
              <a:t>Applying</a:t>
            </a:r>
            <a:r>
              <a:rPr spc="260" dirty="0"/>
              <a:t> </a:t>
            </a:r>
            <a:r>
              <a:rPr dirty="0"/>
              <a:t>Methods</a:t>
            </a:r>
            <a:r>
              <a:rPr spc="245" dirty="0"/>
              <a:t> </a:t>
            </a:r>
            <a:r>
              <a:rPr spc="265" dirty="0"/>
              <a:t>&amp;</a:t>
            </a:r>
            <a:r>
              <a:rPr spc="285" dirty="0"/>
              <a:t> </a:t>
            </a:r>
            <a:r>
              <a:rPr spc="-10" dirty="0"/>
              <a:t>Selectors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624484"/>
            <a:ext cx="10668000" cy="50749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400" b="1" spc="155" dirty="0">
                <a:latin typeface="Cambria"/>
                <a:cs typeface="Cambria"/>
              </a:rPr>
              <a:t>CSS</a:t>
            </a:r>
            <a:r>
              <a:rPr sz="2400" b="1" spc="270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applying</a:t>
            </a:r>
            <a:r>
              <a:rPr sz="2400" b="1" spc="225" dirty="0">
                <a:latin typeface="Cambria"/>
                <a:cs typeface="Cambria"/>
              </a:rPr>
              <a:t> </a:t>
            </a:r>
            <a:r>
              <a:rPr sz="2400" b="1" spc="80" dirty="0">
                <a:latin typeface="Cambria"/>
                <a:cs typeface="Cambria"/>
              </a:rPr>
              <a:t>Methods: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90" dirty="0">
                <a:latin typeface="Cambria"/>
                <a:cs typeface="Cambria"/>
              </a:rPr>
              <a:t>Inline.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90" dirty="0">
                <a:latin typeface="Cambria"/>
                <a:cs typeface="Cambria"/>
              </a:rPr>
              <a:t>Internal.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90" dirty="0">
                <a:latin typeface="Cambria"/>
                <a:cs typeface="Cambria"/>
              </a:rPr>
              <a:t>External.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 MT"/>
              <a:buChar char="•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155" dirty="0">
                <a:latin typeface="Cambria"/>
                <a:cs typeface="Cambria"/>
              </a:rPr>
              <a:t>CSS</a:t>
            </a:r>
            <a:r>
              <a:rPr sz="2400" b="1" spc="265" dirty="0">
                <a:latin typeface="Cambria"/>
                <a:cs typeface="Cambria"/>
              </a:rPr>
              <a:t> </a:t>
            </a:r>
            <a:r>
              <a:rPr sz="2400" b="1" spc="75" dirty="0">
                <a:latin typeface="Cambria"/>
                <a:cs typeface="Cambria"/>
              </a:rPr>
              <a:t>Selectors</a:t>
            </a:r>
            <a:r>
              <a:rPr sz="2400" b="1" spc="25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types</a:t>
            </a:r>
            <a:r>
              <a:rPr sz="2400" b="1" spc="245" dirty="0">
                <a:latin typeface="Cambria"/>
                <a:cs typeface="Cambria"/>
              </a:rPr>
              <a:t> </a:t>
            </a:r>
            <a:r>
              <a:rPr sz="2400" b="1" spc="50" dirty="0">
                <a:latin typeface="Cambria"/>
                <a:cs typeface="Cambria"/>
              </a:rPr>
              <a:t>&amp;</a:t>
            </a:r>
            <a:r>
              <a:rPr sz="2400" b="1" spc="235" dirty="0">
                <a:latin typeface="Cambria"/>
                <a:cs typeface="Cambria"/>
              </a:rPr>
              <a:t> </a:t>
            </a:r>
            <a:r>
              <a:rPr sz="2400" b="1" spc="55" dirty="0">
                <a:latin typeface="Cambria"/>
                <a:cs typeface="Cambria"/>
              </a:rPr>
              <a:t>structure: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6941820" algn="l"/>
              </a:tabLst>
            </a:pPr>
            <a:r>
              <a:rPr sz="2400" spc="130" dirty="0">
                <a:latin typeface="Cambria"/>
                <a:cs typeface="Cambria"/>
              </a:rPr>
              <a:t>Class: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C00000"/>
                </a:solidFill>
                <a:latin typeface="Cambria"/>
                <a:cs typeface="Cambria"/>
              </a:rPr>
              <a:t>.class_name</a:t>
            </a:r>
            <a:r>
              <a:rPr sz="2400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{</a:t>
            </a:r>
            <a:r>
              <a:rPr sz="2400" spc="1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200" dirty="0">
                <a:solidFill>
                  <a:srgbClr val="006FC0"/>
                </a:solidFill>
                <a:latin typeface="Cambria"/>
                <a:cs typeface="Cambria"/>
              </a:rPr>
              <a:t>Css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6FC0"/>
                </a:solidFill>
                <a:latin typeface="Cambria"/>
                <a:cs typeface="Cambria"/>
              </a:rPr>
              <a:t>Property:</a:t>
            </a:r>
            <a:r>
              <a:rPr sz="2400" spc="2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value;</a:t>
            </a:r>
            <a:r>
              <a:rPr sz="24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}</a:t>
            </a:r>
            <a:r>
              <a:rPr sz="2400" spc="1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=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30" dirty="0">
                <a:latin typeface="Cambria"/>
                <a:cs typeface="Cambria"/>
              </a:rPr>
              <a:t>multiple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identity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tags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2442210" algn="l"/>
              </a:tabLst>
            </a:pPr>
            <a:r>
              <a:rPr sz="2400" spc="60" dirty="0">
                <a:latin typeface="Cambria"/>
                <a:cs typeface="Cambria"/>
              </a:rPr>
              <a:t>Id: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C00000"/>
                </a:solidFill>
                <a:latin typeface="Cambria"/>
                <a:cs typeface="Cambria"/>
              </a:rPr>
              <a:t>#id_name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{</a:t>
            </a:r>
            <a:r>
              <a:rPr sz="24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006FC0"/>
                </a:solidFill>
                <a:latin typeface="Cambria"/>
                <a:cs typeface="Cambria"/>
              </a:rPr>
              <a:t>Css</a:t>
            </a:r>
            <a:r>
              <a:rPr sz="2400" spc="2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6FC0"/>
                </a:solidFill>
                <a:latin typeface="Cambria"/>
                <a:cs typeface="Cambria"/>
              </a:rPr>
              <a:t>Property:</a:t>
            </a:r>
            <a:r>
              <a:rPr sz="2400" spc="2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value;</a:t>
            </a:r>
            <a:r>
              <a:rPr sz="24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}</a:t>
            </a:r>
            <a:r>
              <a:rPr sz="24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=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single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unique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id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tag.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10" dirty="0">
                <a:latin typeface="Cambria"/>
                <a:cs typeface="Cambria"/>
              </a:rPr>
              <a:t>&lt;tag&gt;: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C00000"/>
                </a:solidFill>
                <a:latin typeface="Cambria"/>
                <a:cs typeface="Cambria"/>
              </a:rPr>
              <a:t>tag_name</a:t>
            </a:r>
            <a:r>
              <a:rPr sz="2400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{</a:t>
            </a:r>
            <a:r>
              <a:rPr sz="24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006FC0"/>
                </a:solidFill>
                <a:latin typeface="Cambria"/>
                <a:cs typeface="Cambria"/>
              </a:rPr>
              <a:t>Css</a:t>
            </a:r>
            <a:r>
              <a:rPr sz="2400" spc="2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6FC0"/>
                </a:solidFill>
                <a:latin typeface="Cambria"/>
                <a:cs typeface="Cambria"/>
              </a:rPr>
              <a:t>Property:</a:t>
            </a:r>
            <a:r>
              <a:rPr sz="2400" spc="2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value;</a:t>
            </a:r>
            <a:r>
              <a:rPr sz="24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}</a:t>
            </a:r>
            <a:r>
              <a:rPr sz="24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=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same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type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of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tag.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•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165" dirty="0">
                <a:latin typeface="Cambria"/>
                <a:cs typeface="Cambria"/>
              </a:rPr>
              <a:t>Group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tagname,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.Classname,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#idname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06FC0"/>
                </a:solidFill>
                <a:latin typeface="Cambria"/>
                <a:cs typeface="Cambria"/>
              </a:rPr>
              <a:t>{Css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6FC0"/>
                </a:solidFill>
                <a:latin typeface="Cambria"/>
                <a:cs typeface="Cambria"/>
              </a:rPr>
              <a:t>Property:</a:t>
            </a:r>
            <a:r>
              <a:rPr sz="2400" spc="2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value;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05" dirty="0">
                <a:latin typeface="Cambria"/>
                <a:cs typeface="Cambria"/>
              </a:rPr>
              <a:t>Universal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“star”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C00000"/>
                </a:solidFill>
                <a:latin typeface="Cambria"/>
                <a:cs typeface="Cambria"/>
              </a:rPr>
              <a:t>*</a:t>
            </a:r>
            <a:r>
              <a:rPr sz="2400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06FC0"/>
                </a:solidFill>
                <a:latin typeface="Cambria"/>
                <a:cs typeface="Cambria"/>
              </a:rPr>
              <a:t>{Css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6FC0"/>
                </a:solidFill>
                <a:latin typeface="Cambria"/>
                <a:cs typeface="Cambria"/>
              </a:rPr>
              <a:t>Property:</a:t>
            </a:r>
            <a:r>
              <a:rPr sz="2400" spc="2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value;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10" dirty="0"/>
              <a:t> </a:t>
            </a:r>
            <a:r>
              <a:rPr spc="-20" dirty="0"/>
              <a:t>Properties:</a:t>
            </a:r>
            <a:r>
              <a:rPr spc="95" dirty="0"/>
              <a:t> </a:t>
            </a:r>
            <a:r>
              <a:rPr dirty="0"/>
              <a:t>Color</a:t>
            </a:r>
            <a:r>
              <a:rPr spc="90" dirty="0"/>
              <a:t> </a:t>
            </a:r>
            <a:r>
              <a:rPr spc="-10" dirty="0"/>
              <a:t>Modes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506158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  <a:tab pos="323278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color: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120" dirty="0">
                <a:solidFill>
                  <a:srgbClr val="006FC0"/>
                </a:solidFill>
                <a:latin typeface="Cambria"/>
                <a:cs typeface="Cambria"/>
              </a:rPr>
              <a:t>Color_value;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color: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Color_value;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2286635" algn="l"/>
              </a:tabLst>
            </a:pPr>
            <a:r>
              <a:rPr sz="2400" spc="150" dirty="0">
                <a:latin typeface="Cambria"/>
                <a:cs typeface="Cambria"/>
              </a:rPr>
              <a:t>Color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Name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5" dirty="0">
                <a:solidFill>
                  <a:srgbClr val="006FC0"/>
                </a:solidFill>
                <a:latin typeface="Cambria"/>
                <a:cs typeface="Cambria"/>
              </a:rPr>
              <a:t>red;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40" dirty="0">
                <a:latin typeface="Cambria"/>
                <a:cs typeface="Cambria"/>
              </a:rPr>
              <a:t>Hexadecimal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#150f64;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7752" y="2564384"/>
            <a:ext cx="6347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9350" algn="l"/>
              </a:tabLst>
            </a:pPr>
            <a:r>
              <a:rPr sz="2400" spc="60" dirty="0">
                <a:latin typeface="Cambria"/>
                <a:cs typeface="Cambria"/>
              </a:rPr>
              <a:t>(red,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green,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blue)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{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values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range: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0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to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255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006" y="2564384"/>
            <a:ext cx="41719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2301875" algn="l"/>
              </a:tabLst>
            </a:pPr>
            <a:r>
              <a:rPr sz="2400" spc="110" dirty="0">
                <a:latin typeface="Cambria"/>
                <a:cs typeface="Cambria"/>
              </a:rPr>
              <a:t>RGB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60" dirty="0">
                <a:solidFill>
                  <a:srgbClr val="006FC0"/>
                </a:solidFill>
                <a:latin typeface="Cambria"/>
                <a:cs typeface="Cambria"/>
              </a:rPr>
              <a:t>rgb(255,0,0);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90" dirty="0">
                <a:latin typeface="Cambria"/>
                <a:cs typeface="Cambria"/>
              </a:rPr>
              <a:t>HSL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9410" y="2930144"/>
            <a:ext cx="2613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hsl(0,</a:t>
            </a:r>
            <a:r>
              <a:rPr sz="2400" spc="2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100%,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Cambria"/>
                <a:cs typeface="Cambria"/>
              </a:rPr>
              <a:t>50%);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2615" y="3295904"/>
            <a:ext cx="58743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120" dirty="0">
                <a:latin typeface="Cambria"/>
                <a:cs typeface="Cambria"/>
              </a:rPr>
              <a:t>Hue: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0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to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360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degrees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Change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Color </a:t>
            </a:r>
            <a:r>
              <a:rPr sz="2400" spc="105" dirty="0">
                <a:latin typeface="Cambria"/>
                <a:cs typeface="Cambria"/>
              </a:rPr>
              <a:t>Saturation: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0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to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100%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Brightness </a:t>
            </a:r>
            <a:r>
              <a:rPr sz="2400" spc="114" dirty="0">
                <a:latin typeface="Cambria"/>
                <a:cs typeface="Cambria"/>
              </a:rPr>
              <a:t>Lightness: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0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to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100%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for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Light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on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color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9410" y="4393438"/>
            <a:ext cx="258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006FC0"/>
                </a:solidFill>
                <a:latin typeface="Cambria"/>
                <a:cs typeface="Cambria"/>
              </a:rPr>
              <a:t>rgba(255,0,0,0.5);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006" y="4393438"/>
            <a:ext cx="11017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Rgba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25" dirty="0">
                <a:latin typeface="Cambria"/>
                <a:cs typeface="Cambria"/>
              </a:rPr>
              <a:t>Hsla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9410" y="4758893"/>
            <a:ext cx="34048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hsla(0,</a:t>
            </a:r>
            <a:r>
              <a:rPr sz="2400" spc="1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100%,</a:t>
            </a:r>
            <a:r>
              <a:rPr sz="2400" spc="1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50%,</a:t>
            </a:r>
            <a:r>
              <a:rPr sz="2400" spc="1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mbria"/>
                <a:cs typeface="Cambria"/>
              </a:rPr>
              <a:t>0.5);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006" y="5125339"/>
            <a:ext cx="10832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0"/>
              </a:spcBef>
              <a:tabLst>
                <a:tab pos="4841240" algn="l"/>
              </a:tabLst>
            </a:pPr>
            <a:r>
              <a:rPr sz="2400" b="1" spc="85" dirty="0">
                <a:latin typeface="Cambria"/>
                <a:cs typeface="Cambria"/>
              </a:rPr>
              <a:t>Note:</a:t>
            </a:r>
            <a:r>
              <a:rPr sz="2400" b="1" spc="21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a: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“alpha”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{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values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range: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30" dirty="0">
                <a:latin typeface="Cambria"/>
                <a:cs typeface="Cambria"/>
              </a:rPr>
              <a:t>0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to </a:t>
            </a:r>
            <a:r>
              <a:rPr sz="2400" spc="130" dirty="0">
                <a:latin typeface="Cambria"/>
                <a:cs typeface="Cambria"/>
              </a:rPr>
              <a:t>1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210" dirty="0">
                <a:latin typeface="Cambria"/>
                <a:cs typeface="Cambria"/>
              </a:rPr>
              <a:t>OR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0%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to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100%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}color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transparent.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145" dirty="0">
                <a:latin typeface="Cambria"/>
                <a:cs typeface="Cambria"/>
              </a:rPr>
              <a:t>Online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search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colors.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44" y="25095"/>
            <a:ext cx="5517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65" dirty="0"/>
              <a:t> </a:t>
            </a:r>
            <a:r>
              <a:rPr spc="-20" dirty="0"/>
              <a:t>Properties:</a:t>
            </a:r>
            <a:r>
              <a:rPr spc="50" dirty="0"/>
              <a:t> </a:t>
            </a:r>
            <a:r>
              <a:rPr spc="-20" dirty="0"/>
              <a:t>Border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567055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border-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width:</a:t>
            </a:r>
            <a:r>
              <a:rPr sz="24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10px;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border-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style:</a:t>
            </a:r>
            <a:r>
              <a:rPr sz="2400" spc="3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06FC0"/>
                </a:solidFill>
                <a:latin typeface="Cambria"/>
                <a:cs typeface="Cambria"/>
              </a:rPr>
              <a:t>dashed;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border-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color:</a:t>
            </a:r>
            <a:r>
              <a:rPr sz="2400" spc="3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6FC0"/>
                </a:solidFill>
                <a:latin typeface="Cambria"/>
                <a:cs typeface="Cambria"/>
              </a:rPr>
              <a:t>red;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border-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top: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10px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solid</a:t>
            </a:r>
            <a:r>
              <a:rPr sz="2400" spc="2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6FC0"/>
                </a:solidFill>
                <a:latin typeface="Cambria"/>
                <a:cs typeface="Cambria"/>
              </a:rPr>
              <a:t>blue;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border-</a:t>
            </a:r>
            <a:r>
              <a:rPr sz="2400" spc="135" dirty="0">
                <a:solidFill>
                  <a:srgbClr val="FF0000"/>
                </a:solidFill>
                <a:latin typeface="Cambria"/>
                <a:cs typeface="Cambria"/>
              </a:rPr>
              <a:t>bottom:</a:t>
            </a:r>
            <a:r>
              <a:rPr sz="240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30px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double</a:t>
            </a:r>
            <a:r>
              <a:rPr sz="2400" spc="2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Cambria"/>
                <a:cs typeface="Cambria"/>
              </a:rPr>
              <a:t>yellow;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border-</a:t>
            </a: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left: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70px</a:t>
            </a:r>
            <a:r>
              <a:rPr sz="2400" spc="2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06FC0"/>
                </a:solidFill>
                <a:latin typeface="Cambria"/>
                <a:cs typeface="Cambria"/>
              </a:rPr>
              <a:t>groove</a:t>
            </a:r>
            <a:r>
              <a:rPr sz="2400" spc="2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6FC0"/>
                </a:solidFill>
                <a:latin typeface="Cambria"/>
                <a:cs typeface="Cambria"/>
              </a:rPr>
              <a:t>green;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border-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right: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30px</a:t>
            </a:r>
            <a:r>
              <a:rPr sz="2400" spc="2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inset</a:t>
            </a:r>
            <a:r>
              <a:rPr sz="2400" spc="2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aqua;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  <a:spcBef>
                <a:spcPts val="5"/>
              </a:spcBef>
            </a:pPr>
            <a:r>
              <a:rPr sz="2400" b="1" spc="65" dirty="0">
                <a:latin typeface="Cambria"/>
                <a:cs typeface="Cambria"/>
              </a:rPr>
              <a:t>Shortcut: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border: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10px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06FC0"/>
                </a:solidFill>
                <a:latin typeface="Cambria"/>
                <a:cs typeface="Cambria"/>
              </a:rPr>
              <a:t>solid</a:t>
            </a:r>
            <a:r>
              <a:rPr sz="2400" spc="26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6FC0"/>
                </a:solidFill>
                <a:latin typeface="Cambria"/>
                <a:cs typeface="Cambria"/>
              </a:rPr>
              <a:t>darkblue;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65" dirty="0"/>
              <a:t> </a:t>
            </a:r>
            <a:r>
              <a:rPr spc="-20" dirty="0"/>
              <a:t>Properties:</a:t>
            </a:r>
            <a:r>
              <a:rPr spc="50" dirty="0"/>
              <a:t> </a:t>
            </a:r>
            <a:r>
              <a:rPr spc="-10" dirty="0"/>
              <a:t>Outline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778510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Outline-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Width:</a:t>
            </a:r>
            <a:r>
              <a:rPr sz="240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10px;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Outline-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Style: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06FC0"/>
                </a:solidFill>
                <a:latin typeface="Cambria"/>
                <a:cs typeface="Cambria"/>
              </a:rPr>
              <a:t>dashed;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Outline-</a:t>
            </a: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Color: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6FC0"/>
                </a:solidFill>
                <a:latin typeface="Cambria"/>
                <a:cs typeface="Cambria"/>
              </a:rPr>
              <a:t>red;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  <a:tab pos="3670300" algn="l"/>
              </a:tabLst>
            </a:pP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Outline-</a:t>
            </a:r>
            <a:r>
              <a:rPr sz="2400" spc="160" dirty="0">
                <a:solidFill>
                  <a:srgbClr val="FF0000"/>
                </a:solidFill>
                <a:latin typeface="Cambria"/>
                <a:cs typeface="Cambria"/>
              </a:rPr>
              <a:t>Offset: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20px;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	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{</a:t>
            </a:r>
            <a:r>
              <a:rPr sz="24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Border</a:t>
            </a:r>
            <a:r>
              <a:rPr sz="2400" spc="2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&amp;</a:t>
            </a:r>
            <a:r>
              <a:rPr sz="24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outline</a:t>
            </a:r>
            <a:r>
              <a:rPr sz="2400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FF0000"/>
                </a:solidFill>
                <a:latin typeface="Cambria"/>
                <a:cs typeface="Cambria"/>
              </a:rPr>
              <a:t>gapping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65" dirty="0">
                <a:latin typeface="Cambria"/>
                <a:cs typeface="Cambria"/>
              </a:rPr>
              <a:t>Shortcut: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  <a:tab pos="2301875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outline:</a:t>
            </a:r>
            <a:r>
              <a:rPr sz="24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06FC0"/>
                </a:solidFill>
                <a:latin typeface="Cambria"/>
                <a:cs typeface="Cambria"/>
              </a:rPr>
              <a:t>8px</a:t>
            </a:r>
            <a:r>
              <a:rPr sz="2400" dirty="0">
                <a:solidFill>
                  <a:srgbClr val="006FC0"/>
                </a:solidFill>
                <a:latin typeface="Cambria"/>
                <a:cs typeface="Cambria"/>
              </a:rPr>
              <a:t>	</a:t>
            </a:r>
            <a:r>
              <a:rPr sz="2400" spc="114" dirty="0">
                <a:solidFill>
                  <a:srgbClr val="006FC0"/>
                </a:solidFill>
                <a:latin typeface="Cambria"/>
                <a:cs typeface="Cambria"/>
              </a:rPr>
              <a:t>groove</a:t>
            </a:r>
            <a:r>
              <a:rPr sz="2400" spc="2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6FC0"/>
                </a:solidFill>
                <a:latin typeface="Cambria"/>
                <a:cs typeface="Cambria"/>
              </a:rPr>
              <a:t>green;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outline-</a:t>
            </a:r>
            <a:r>
              <a:rPr sz="2400" spc="140" dirty="0">
                <a:solidFill>
                  <a:srgbClr val="FF0000"/>
                </a:solidFill>
                <a:latin typeface="Cambria"/>
                <a:cs typeface="Cambria"/>
              </a:rPr>
              <a:t>offset:</a:t>
            </a:r>
            <a:r>
              <a:rPr sz="240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10px;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90" dirty="0"/>
              <a:t> </a:t>
            </a:r>
            <a:r>
              <a:rPr spc="-20" dirty="0"/>
              <a:t>Properties:</a:t>
            </a:r>
            <a:r>
              <a:rPr spc="165" dirty="0"/>
              <a:t> </a:t>
            </a:r>
            <a:r>
              <a:rPr dirty="0"/>
              <a:t>Padding</a:t>
            </a:r>
            <a:r>
              <a:rPr spc="175" dirty="0"/>
              <a:t> </a:t>
            </a:r>
            <a:r>
              <a:rPr spc="265" dirty="0"/>
              <a:t>&amp;</a:t>
            </a:r>
            <a:r>
              <a:rPr spc="195" dirty="0"/>
              <a:t> </a:t>
            </a:r>
            <a:r>
              <a:rPr spc="60" dirty="0"/>
              <a:t>Margin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391287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Padding-</a:t>
            </a: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top:</a:t>
            </a:r>
            <a:r>
              <a:rPr sz="2400" spc="3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50px;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Padding-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bottom:</a:t>
            </a:r>
            <a:r>
              <a:rPr sz="24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100px;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Padding-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left: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20px;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Padding-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right:</a:t>
            </a:r>
            <a:r>
              <a:rPr sz="24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40px;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0956" y="2220895"/>
          <a:ext cx="5807074" cy="1242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805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1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Padding: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805"/>
                        </a:lnSpc>
                      </a:pPr>
                      <a:r>
                        <a:rPr sz="2400" spc="10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10px;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ts val="2825"/>
                        </a:lnSpc>
                        <a:spcBef>
                          <a:spcPts val="550"/>
                        </a:spcBef>
                      </a:pPr>
                      <a:r>
                        <a:rPr sz="2400" b="1" spc="65" dirty="0">
                          <a:latin typeface="Cambria"/>
                          <a:cs typeface="Cambria"/>
                        </a:rPr>
                        <a:t>Shortcut: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825"/>
                        </a:lnSpc>
                        <a:spcBef>
                          <a:spcPts val="550"/>
                        </a:spcBef>
                      </a:pPr>
                      <a:r>
                        <a:rPr sz="2400" b="1" spc="-20" dirty="0">
                          <a:latin typeface="Cambria"/>
                          <a:cs typeface="Cambria"/>
                        </a:rPr>
                        <a:t>(top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825"/>
                        </a:lnSpc>
                        <a:spcBef>
                          <a:spcPts val="550"/>
                        </a:spcBef>
                      </a:pPr>
                      <a:r>
                        <a:rPr sz="2400" b="1" spc="60" dirty="0">
                          <a:latin typeface="Cambria"/>
                          <a:cs typeface="Cambria"/>
                        </a:rPr>
                        <a:t>right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825"/>
                        </a:lnSpc>
                        <a:spcBef>
                          <a:spcPts val="550"/>
                        </a:spcBef>
                      </a:pPr>
                      <a:r>
                        <a:rPr sz="2400" b="1" spc="90" dirty="0">
                          <a:latin typeface="Cambria"/>
                          <a:cs typeface="Cambria"/>
                        </a:rPr>
                        <a:t>bottom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2825"/>
                        </a:lnSpc>
                        <a:spcBef>
                          <a:spcPts val="550"/>
                        </a:spcBef>
                      </a:pPr>
                      <a:r>
                        <a:rPr sz="2400" b="1" spc="-10" dirty="0">
                          <a:latin typeface="Cambria"/>
                          <a:cs typeface="Cambria"/>
                        </a:rPr>
                        <a:t>left)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698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45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9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Padding: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745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745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20px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745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30px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745"/>
                        </a:lnSpc>
                      </a:pPr>
                      <a:r>
                        <a:rPr sz="2400" spc="9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40px;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10006" y="3814317"/>
            <a:ext cx="3742054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Margin-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top:</a:t>
            </a:r>
            <a:r>
              <a:rPr sz="240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70px;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Margin-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bottom:</a:t>
            </a:r>
            <a:r>
              <a:rPr sz="240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200px;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Margin-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right: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40px;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Margin-</a:t>
            </a: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left: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100px;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Margin: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06FC0"/>
                </a:solidFill>
                <a:latin typeface="Cambria"/>
                <a:cs typeface="Cambria"/>
              </a:rPr>
              <a:t>auto;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50px;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0956" y="5820217"/>
          <a:ext cx="5544184" cy="72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315">
                <a:tc>
                  <a:txBody>
                    <a:bodyPr/>
                    <a:lstStyle/>
                    <a:p>
                      <a:pPr marL="31750">
                        <a:lnSpc>
                          <a:spcPts val="2745"/>
                        </a:lnSpc>
                      </a:pPr>
                      <a:r>
                        <a:rPr sz="2400" b="1" spc="75" dirty="0">
                          <a:latin typeface="Cambria"/>
                          <a:cs typeface="Cambria"/>
                        </a:rPr>
                        <a:t>Shortcut:</a:t>
                      </a:r>
                      <a:r>
                        <a:rPr sz="2400" b="1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spc="-20" dirty="0">
                          <a:latin typeface="Cambria"/>
                          <a:cs typeface="Cambria"/>
                        </a:rPr>
                        <a:t>(top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2745"/>
                        </a:lnSpc>
                      </a:pPr>
                      <a:r>
                        <a:rPr sz="2400" b="1" spc="65" dirty="0">
                          <a:latin typeface="Cambria"/>
                          <a:cs typeface="Cambria"/>
                        </a:rPr>
                        <a:t>right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2745"/>
                        </a:lnSpc>
                      </a:pPr>
                      <a:r>
                        <a:rPr sz="2400" b="1" spc="90" dirty="0">
                          <a:latin typeface="Cambria"/>
                          <a:cs typeface="Cambria"/>
                        </a:rPr>
                        <a:t>bottom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2745"/>
                        </a:lnSpc>
                      </a:pPr>
                      <a:r>
                        <a:rPr sz="2400" b="1" spc="-10" dirty="0">
                          <a:latin typeface="Cambria"/>
                          <a:cs typeface="Cambria"/>
                        </a:rPr>
                        <a:t>left)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50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9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Margin:</a:t>
                      </a:r>
                      <a:r>
                        <a:rPr sz="2400" spc="19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12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0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20px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750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750"/>
                        </a:lnSpc>
                      </a:pPr>
                      <a:r>
                        <a:rPr sz="2400" spc="9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40px;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70" dirty="0"/>
              <a:t> </a:t>
            </a:r>
            <a:r>
              <a:rPr spc="-20" dirty="0"/>
              <a:t>Properties:</a:t>
            </a:r>
            <a:r>
              <a:rPr spc="145" dirty="0"/>
              <a:t> </a:t>
            </a:r>
            <a:r>
              <a:rPr spc="100" dirty="0"/>
              <a:t>Height,</a:t>
            </a:r>
            <a:r>
              <a:rPr spc="160" dirty="0"/>
              <a:t> </a:t>
            </a:r>
            <a:r>
              <a:rPr dirty="0"/>
              <a:t>Width</a:t>
            </a:r>
            <a:r>
              <a:rPr spc="150" dirty="0"/>
              <a:t> </a:t>
            </a:r>
            <a:r>
              <a:rPr spc="265" dirty="0"/>
              <a:t>&amp;</a:t>
            </a:r>
            <a:r>
              <a:rPr spc="175" dirty="0"/>
              <a:t> </a:t>
            </a:r>
            <a:r>
              <a:rPr dirty="0"/>
              <a:t>Box-</a:t>
            </a:r>
            <a:r>
              <a:rPr spc="75" dirty="0"/>
              <a:t>Sizing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1043876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Width:</a:t>
            </a:r>
            <a:r>
              <a:rPr sz="24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06FC0"/>
                </a:solidFill>
                <a:latin typeface="Cambria"/>
                <a:cs typeface="Cambria"/>
              </a:rPr>
              <a:t>50px;</a:t>
            </a:r>
            <a:r>
              <a:rPr sz="2400" spc="1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mbria"/>
                <a:cs typeface="Cambria"/>
              </a:rPr>
              <a:t>50%;</a:t>
            </a:r>
            <a:r>
              <a:rPr sz="2400" spc="1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auto;</a:t>
            </a:r>
            <a:endParaRPr sz="2400">
              <a:latin typeface="Cambria"/>
              <a:cs typeface="Cambria"/>
            </a:endParaRPr>
          </a:p>
          <a:p>
            <a:pPr marL="1383665">
              <a:lnSpc>
                <a:spcPct val="100000"/>
              </a:lnSpc>
              <a:spcBef>
                <a:spcPts val="5"/>
              </a:spcBef>
            </a:pP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fit-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content;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min-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content;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max-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content;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Height: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100px;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max-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width:</a:t>
            </a:r>
            <a:r>
              <a:rPr sz="240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mbria"/>
                <a:cs typeface="Cambria"/>
              </a:rPr>
              <a:t>100%;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6822440" algn="l"/>
              </a:tabLst>
            </a:pPr>
            <a:r>
              <a:rPr sz="2400" b="1" spc="85" dirty="0">
                <a:latin typeface="Cambria"/>
                <a:cs typeface="Cambria"/>
              </a:rPr>
              <a:t>Note:</a:t>
            </a:r>
            <a:r>
              <a:rPr sz="2400" b="1" spc="190" dirty="0">
                <a:latin typeface="Cambria"/>
                <a:cs typeface="Cambria"/>
              </a:rPr>
              <a:t> </a:t>
            </a:r>
            <a:r>
              <a:rPr sz="2400" b="1" spc="65" dirty="0">
                <a:latin typeface="Cambria"/>
                <a:cs typeface="Cambria"/>
              </a:rPr>
              <a:t>1.</a:t>
            </a:r>
            <a:r>
              <a:rPr sz="2400" b="1" spc="18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width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works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with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%,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px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more...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b="1" spc="65" dirty="0">
                <a:latin typeface="Cambria"/>
                <a:cs typeface="Cambria"/>
              </a:rPr>
              <a:t>2.</a:t>
            </a:r>
            <a:r>
              <a:rPr sz="2400" b="1" spc="19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Height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works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with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px.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box-</a:t>
            </a:r>
            <a:r>
              <a:rPr sz="2400" spc="135" dirty="0">
                <a:solidFill>
                  <a:srgbClr val="E40000"/>
                </a:solidFill>
                <a:latin typeface="Cambria"/>
                <a:cs typeface="Cambria"/>
              </a:rPr>
              <a:t>sizing</a:t>
            </a:r>
            <a:r>
              <a:rPr sz="2400" spc="135" dirty="0">
                <a:latin typeface="Cambria"/>
                <a:cs typeface="Cambria"/>
              </a:rPr>
              <a:t>: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border-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r>
              <a:rPr sz="2400" spc="26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content-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20" dirty="0"/>
              <a:t> </a:t>
            </a:r>
            <a:r>
              <a:rPr spc="-20" dirty="0"/>
              <a:t>Properties:</a:t>
            </a:r>
            <a:r>
              <a:rPr spc="100" dirty="0"/>
              <a:t> </a:t>
            </a:r>
            <a:r>
              <a:rPr dirty="0"/>
              <a:t>Overflow</a:t>
            </a:r>
            <a:r>
              <a:rPr spc="105" dirty="0"/>
              <a:t> </a:t>
            </a:r>
            <a:r>
              <a:rPr spc="265" dirty="0"/>
              <a:t>&amp;</a:t>
            </a:r>
            <a:r>
              <a:rPr spc="125" dirty="0"/>
              <a:t> </a:t>
            </a:r>
            <a:r>
              <a:rPr spc="-75" dirty="0"/>
              <a:t>Border-</a:t>
            </a:r>
            <a:r>
              <a:rPr spc="-10" dirty="0"/>
              <a:t>Radius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744156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overflow: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visible;</a:t>
            </a:r>
            <a:r>
              <a:rPr sz="24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scroll;</a:t>
            </a:r>
            <a:r>
              <a:rPr sz="2400" spc="2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hidden;</a:t>
            </a:r>
            <a:r>
              <a:rPr sz="24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6FC0"/>
                </a:solidFill>
                <a:latin typeface="Cambria"/>
                <a:cs typeface="Cambria"/>
              </a:rPr>
              <a:t>auto;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Overflow-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x: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visible;</a:t>
            </a:r>
            <a:r>
              <a:rPr sz="2400" spc="20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scroll;</a:t>
            </a:r>
            <a:r>
              <a:rPr sz="2400" spc="26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hidden;</a:t>
            </a:r>
            <a:r>
              <a:rPr sz="2400" spc="1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6FC0"/>
                </a:solidFill>
                <a:latin typeface="Cambria"/>
                <a:cs typeface="Cambria"/>
              </a:rPr>
              <a:t>auto;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Overflow-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y:</a:t>
            </a:r>
            <a:r>
              <a:rPr sz="24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visible;</a:t>
            </a:r>
            <a:r>
              <a:rPr sz="2400" spc="20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scroll;</a:t>
            </a:r>
            <a:r>
              <a:rPr sz="2400" spc="2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hidden;</a:t>
            </a:r>
            <a:r>
              <a:rPr sz="2400" spc="20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6FC0"/>
                </a:solidFill>
                <a:latin typeface="Cambria"/>
                <a:cs typeface="Cambria"/>
              </a:rPr>
              <a:t>auto;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pc="85" dirty="0"/>
              <a:t>border-</a:t>
            </a:r>
            <a:r>
              <a:rPr spc="110" dirty="0"/>
              <a:t>top-</a:t>
            </a:r>
            <a:r>
              <a:rPr spc="100" dirty="0"/>
              <a:t>left-</a:t>
            </a:r>
            <a:r>
              <a:rPr spc="105" dirty="0"/>
              <a:t>radius:</a:t>
            </a:r>
            <a:r>
              <a:rPr spc="280" dirty="0"/>
              <a:t> </a:t>
            </a:r>
            <a:r>
              <a:rPr spc="114" dirty="0">
                <a:solidFill>
                  <a:srgbClr val="006FC0"/>
                </a:solidFill>
              </a:rPr>
              <a:t>150px;</a:t>
            </a:r>
            <a:r>
              <a:rPr spc="245" dirty="0">
                <a:solidFill>
                  <a:srgbClr val="006FC0"/>
                </a:solidFill>
              </a:rPr>
              <a:t> </a:t>
            </a:r>
            <a:r>
              <a:rPr spc="100" dirty="0">
                <a:solidFill>
                  <a:srgbClr val="000000"/>
                </a:solidFill>
              </a:rPr>
              <a:t>or</a:t>
            </a:r>
            <a:r>
              <a:rPr spc="24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30%;</a:t>
            </a: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pc="85" dirty="0"/>
              <a:t>border-</a:t>
            </a:r>
            <a:r>
              <a:rPr spc="110" dirty="0"/>
              <a:t>top-</a:t>
            </a:r>
            <a:r>
              <a:rPr spc="90" dirty="0"/>
              <a:t>right-</a:t>
            </a:r>
            <a:r>
              <a:rPr spc="105" dirty="0"/>
              <a:t>radius:</a:t>
            </a:r>
            <a:r>
              <a:rPr spc="285" dirty="0"/>
              <a:t> </a:t>
            </a:r>
            <a:r>
              <a:rPr spc="120" dirty="0">
                <a:solidFill>
                  <a:srgbClr val="006FC0"/>
                </a:solidFill>
              </a:rPr>
              <a:t>100px;</a:t>
            </a:r>
            <a:r>
              <a:rPr spc="240" dirty="0">
                <a:solidFill>
                  <a:srgbClr val="006FC0"/>
                </a:solidFill>
              </a:rPr>
              <a:t> </a:t>
            </a:r>
            <a:r>
              <a:rPr spc="100" dirty="0">
                <a:solidFill>
                  <a:srgbClr val="000000"/>
                </a:solidFill>
              </a:rPr>
              <a:t>or</a:t>
            </a:r>
            <a:r>
              <a:rPr spc="24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20%;</a:t>
            </a: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pc="85" dirty="0"/>
              <a:t>border-</a:t>
            </a:r>
            <a:r>
              <a:rPr spc="130" dirty="0"/>
              <a:t>bottom-</a:t>
            </a:r>
            <a:r>
              <a:rPr spc="90" dirty="0"/>
              <a:t>right-</a:t>
            </a:r>
            <a:r>
              <a:rPr spc="105" dirty="0"/>
              <a:t>radius:</a:t>
            </a:r>
            <a:r>
              <a:rPr spc="295" dirty="0"/>
              <a:t> </a:t>
            </a:r>
            <a:r>
              <a:rPr spc="114" dirty="0">
                <a:solidFill>
                  <a:srgbClr val="006FC0"/>
                </a:solidFill>
              </a:rPr>
              <a:t>300px;</a:t>
            </a:r>
            <a:r>
              <a:rPr spc="265" dirty="0">
                <a:solidFill>
                  <a:srgbClr val="006FC0"/>
                </a:solidFill>
              </a:rPr>
              <a:t> </a:t>
            </a:r>
            <a:r>
              <a:rPr spc="100" dirty="0">
                <a:solidFill>
                  <a:srgbClr val="000000"/>
                </a:solidFill>
              </a:rPr>
              <a:t>or</a:t>
            </a:r>
            <a:r>
              <a:rPr spc="24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40%;</a:t>
            </a: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pc="90" dirty="0"/>
              <a:t>border-</a:t>
            </a:r>
            <a:r>
              <a:rPr spc="130" dirty="0"/>
              <a:t>bottom-</a:t>
            </a:r>
            <a:r>
              <a:rPr spc="105" dirty="0"/>
              <a:t>left-</a:t>
            </a:r>
            <a:r>
              <a:rPr spc="114" dirty="0"/>
              <a:t>radius:</a:t>
            </a:r>
            <a:r>
              <a:rPr spc="270" dirty="0"/>
              <a:t> </a:t>
            </a:r>
            <a:r>
              <a:rPr spc="110" dirty="0">
                <a:solidFill>
                  <a:srgbClr val="006FC0"/>
                </a:solidFill>
              </a:rPr>
              <a:t>90px;</a:t>
            </a:r>
            <a:r>
              <a:rPr spc="235" dirty="0">
                <a:solidFill>
                  <a:srgbClr val="006FC0"/>
                </a:solidFill>
              </a:rPr>
              <a:t> </a:t>
            </a:r>
            <a:r>
              <a:rPr spc="100" dirty="0">
                <a:solidFill>
                  <a:srgbClr val="000000"/>
                </a:solidFill>
              </a:rPr>
              <a:t>or</a:t>
            </a:r>
            <a:r>
              <a:rPr spc="23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35%;</a:t>
            </a: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pc="90" dirty="0"/>
              <a:t>border-</a:t>
            </a:r>
            <a:r>
              <a:rPr spc="225" dirty="0"/>
              <a:t> </a:t>
            </a:r>
            <a:r>
              <a:rPr spc="125" dirty="0"/>
              <a:t>radius</a:t>
            </a:r>
            <a:r>
              <a:rPr spc="195" dirty="0"/>
              <a:t> </a:t>
            </a:r>
            <a:r>
              <a:rPr dirty="0"/>
              <a:t>:</a:t>
            </a:r>
            <a:r>
              <a:rPr spc="215" dirty="0"/>
              <a:t> </a:t>
            </a:r>
            <a:r>
              <a:rPr spc="114" dirty="0">
                <a:solidFill>
                  <a:srgbClr val="006FC0"/>
                </a:solidFill>
              </a:rPr>
              <a:t>90px;</a:t>
            </a:r>
            <a:r>
              <a:rPr spc="225" dirty="0">
                <a:solidFill>
                  <a:srgbClr val="006FC0"/>
                </a:solidFill>
              </a:rPr>
              <a:t> </a:t>
            </a:r>
            <a:r>
              <a:rPr spc="100" dirty="0">
                <a:solidFill>
                  <a:srgbClr val="000000"/>
                </a:solidFill>
              </a:rPr>
              <a:t>or</a:t>
            </a:r>
            <a:r>
              <a:rPr spc="22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50%;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0956" y="4783247"/>
          <a:ext cx="8028304" cy="723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7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31750">
                        <a:lnSpc>
                          <a:spcPts val="2750"/>
                        </a:lnSpc>
                      </a:pPr>
                      <a:r>
                        <a:rPr sz="2400" b="1" spc="65" dirty="0">
                          <a:latin typeface="Cambria"/>
                          <a:cs typeface="Cambria"/>
                        </a:rPr>
                        <a:t>Shortcut: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2750"/>
                        </a:lnSpc>
                      </a:pPr>
                      <a:r>
                        <a:rPr sz="2400" b="1" spc="-20" dirty="0">
                          <a:latin typeface="Cambria"/>
                          <a:cs typeface="Cambria"/>
                        </a:rPr>
                        <a:t>(top-</a:t>
                      </a:r>
                      <a:r>
                        <a:rPr sz="2400" b="1" spc="15" dirty="0">
                          <a:latin typeface="Cambria"/>
                          <a:cs typeface="Cambria"/>
                        </a:rPr>
                        <a:t>L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 algn="ctr">
                        <a:lnSpc>
                          <a:spcPts val="2750"/>
                        </a:lnSpc>
                      </a:pPr>
                      <a:r>
                        <a:rPr sz="2400" b="1" dirty="0">
                          <a:latin typeface="Cambria"/>
                          <a:cs typeface="Cambria"/>
                        </a:rPr>
                        <a:t>top-</a:t>
                      </a:r>
                      <a:r>
                        <a:rPr sz="2400" b="1" spc="75" dirty="0">
                          <a:latin typeface="Cambria"/>
                          <a:cs typeface="Cambria"/>
                        </a:rPr>
                        <a:t>R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2750"/>
                        </a:lnSpc>
                        <a:tabLst>
                          <a:tab pos="1736089" algn="l"/>
                        </a:tabLst>
                      </a:pPr>
                      <a:r>
                        <a:rPr sz="2400" b="1" spc="75" dirty="0">
                          <a:latin typeface="Cambria"/>
                          <a:cs typeface="Cambria"/>
                        </a:rPr>
                        <a:t>bottom-R</a:t>
                      </a:r>
                      <a:r>
                        <a:rPr sz="2400" b="1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400" b="1" spc="75" dirty="0">
                          <a:latin typeface="Cambria"/>
                          <a:cs typeface="Cambria"/>
                        </a:rPr>
                        <a:t>bottom-</a:t>
                      </a:r>
                      <a:r>
                        <a:rPr sz="2400" b="1" spc="-25" dirty="0">
                          <a:latin typeface="Cambria"/>
                          <a:cs typeface="Cambria"/>
                        </a:rPr>
                        <a:t>L)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50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8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border-</a:t>
                      </a:r>
                      <a:r>
                        <a:rPr sz="2400" spc="9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radius: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50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60px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ts val="2750"/>
                        </a:lnSpc>
                      </a:pPr>
                      <a:r>
                        <a:rPr sz="2400" spc="13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250px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750"/>
                        </a:lnSpc>
                        <a:tabLst>
                          <a:tab pos="1660525" algn="l"/>
                        </a:tabLst>
                      </a:pPr>
                      <a:r>
                        <a:rPr sz="2400" spc="13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100px</a:t>
                      </a:r>
                      <a:r>
                        <a:rPr sz="240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2400" spc="10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50px;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06378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204" dirty="0"/>
              <a:t> </a:t>
            </a:r>
            <a:r>
              <a:rPr spc="-20" dirty="0"/>
              <a:t>Properties:</a:t>
            </a:r>
            <a:r>
              <a:rPr spc="185" dirty="0"/>
              <a:t> </a:t>
            </a:r>
            <a:r>
              <a:rPr dirty="0"/>
              <a:t>Box-Shadow</a:t>
            </a:r>
            <a:r>
              <a:rPr spc="175" dirty="0"/>
              <a:t> </a:t>
            </a:r>
            <a:r>
              <a:rPr spc="265" dirty="0"/>
              <a:t>&amp;</a:t>
            </a:r>
            <a:r>
              <a:rPr spc="215" dirty="0"/>
              <a:t> </a:t>
            </a:r>
            <a:r>
              <a:rPr spc="65" dirty="0"/>
              <a:t>Float</a:t>
            </a:r>
            <a:r>
              <a:rPr spc="190" dirty="0"/>
              <a:t> </a:t>
            </a:r>
            <a:r>
              <a:rPr spc="265" dirty="0"/>
              <a:t>&amp;</a:t>
            </a:r>
            <a:r>
              <a:rPr spc="210" dirty="0"/>
              <a:t> </a:t>
            </a:r>
            <a:r>
              <a:rPr spc="85" dirty="0"/>
              <a:t>Clear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956" y="757474"/>
          <a:ext cx="8806814" cy="1090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marL="2235200">
                        <a:lnSpc>
                          <a:spcPts val="2755"/>
                        </a:lnSpc>
                      </a:pPr>
                      <a:r>
                        <a:rPr sz="2400" spc="-60" dirty="0">
                          <a:latin typeface="Cambria"/>
                          <a:cs typeface="Cambria"/>
                        </a:rPr>
                        <a:t>(</a:t>
                      </a:r>
                      <a:r>
                        <a:rPr sz="2400" b="1" spc="-60" dirty="0">
                          <a:latin typeface="Cambria"/>
                          <a:cs typeface="Cambria"/>
                        </a:rPr>
                        <a:t>h-</a:t>
                      </a:r>
                      <a:r>
                        <a:rPr sz="2400" b="1" spc="120" dirty="0">
                          <a:latin typeface="Cambria"/>
                          <a:cs typeface="Cambria"/>
                        </a:rPr>
                        <a:t>offset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755"/>
                        </a:lnSpc>
                      </a:pPr>
                      <a:r>
                        <a:rPr sz="2400" b="1" spc="80" dirty="0">
                          <a:latin typeface="Cambria"/>
                          <a:cs typeface="Cambria"/>
                        </a:rPr>
                        <a:t>v-</a:t>
                      </a:r>
                      <a:r>
                        <a:rPr sz="2400" b="1" spc="120" dirty="0">
                          <a:latin typeface="Cambria"/>
                          <a:cs typeface="Cambria"/>
                        </a:rPr>
                        <a:t>offset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755"/>
                        </a:lnSpc>
                      </a:pPr>
                      <a:r>
                        <a:rPr sz="2400" b="1" spc="45" dirty="0">
                          <a:latin typeface="Cambria"/>
                          <a:cs typeface="Cambria"/>
                        </a:rPr>
                        <a:t>blur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ts val="2755"/>
                        </a:lnSpc>
                      </a:pPr>
                      <a:r>
                        <a:rPr sz="2400" b="1" spc="60" dirty="0">
                          <a:latin typeface="Cambria"/>
                          <a:cs typeface="Cambria"/>
                        </a:rPr>
                        <a:t>spread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ts val="2755"/>
                        </a:lnSpc>
                      </a:pPr>
                      <a:r>
                        <a:rPr sz="2400" b="1" spc="-10" dirty="0">
                          <a:latin typeface="Cambria"/>
                          <a:cs typeface="Cambria"/>
                        </a:rPr>
                        <a:t>color)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80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1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box-</a:t>
                      </a:r>
                      <a:r>
                        <a:rPr sz="2400" spc="114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shadow:</a:t>
                      </a:r>
                      <a:r>
                        <a:rPr sz="2400" spc="28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25px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2780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25px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780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20px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780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30px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ts val="2780"/>
                        </a:lnSpc>
                      </a:pPr>
                      <a:r>
                        <a:rPr sz="2400" spc="7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gray;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55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1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box-</a:t>
                      </a:r>
                      <a:r>
                        <a:rPr sz="2400" spc="114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shadow:</a:t>
                      </a:r>
                      <a:r>
                        <a:rPr sz="2400" spc="29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5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30px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755"/>
                        </a:lnSpc>
                      </a:pPr>
                      <a:r>
                        <a:rPr sz="2400" spc="-5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30px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755"/>
                        </a:lnSpc>
                      </a:pPr>
                      <a:r>
                        <a:rPr sz="2400" spc="13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20px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ts val="2755"/>
                        </a:lnSpc>
                      </a:pPr>
                      <a:r>
                        <a:rPr sz="2400" spc="7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gray;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0006" y="1832609"/>
            <a:ext cx="108934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301875" algn="l"/>
              </a:tabLst>
            </a:pP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box-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shadow:</a:t>
            </a:r>
            <a:r>
              <a:rPr sz="2400" spc="130" dirty="0">
                <a:solidFill>
                  <a:srgbClr val="006FC0"/>
                </a:solidFill>
                <a:latin typeface="Cambria"/>
                <a:cs typeface="Cambria"/>
              </a:rPr>
              <a:t>10px</a:t>
            </a:r>
            <a:r>
              <a:rPr sz="2400" spc="2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10px</a:t>
            </a:r>
            <a:r>
              <a:rPr sz="2400" spc="2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30px</a:t>
            </a:r>
            <a:r>
              <a:rPr sz="2400" spc="22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red</a:t>
            </a:r>
            <a:r>
              <a:rPr sz="24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,</a:t>
            </a:r>
            <a:r>
              <a:rPr sz="2400" spc="22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Cambria"/>
                <a:cs typeface="Cambria"/>
              </a:rPr>
              <a:t>-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10px</a:t>
            </a:r>
            <a:r>
              <a:rPr sz="2400" spc="2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Cambria"/>
                <a:cs typeface="Cambria"/>
              </a:rPr>
              <a:t>-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10px</a:t>
            </a:r>
            <a:r>
              <a:rPr sz="2400" spc="2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30px</a:t>
            </a:r>
            <a:r>
              <a:rPr sz="2400" spc="22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06FC0"/>
                </a:solidFill>
                <a:latin typeface="Cambria"/>
                <a:cs typeface="Cambria"/>
              </a:rPr>
              <a:t>green</a:t>
            </a:r>
            <a:r>
              <a:rPr sz="2400" spc="22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,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20px</a:t>
            </a:r>
            <a:r>
              <a:rPr sz="2400" spc="204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Cambria"/>
                <a:cs typeface="Cambria"/>
              </a:rPr>
              <a:t>-</a:t>
            </a:r>
            <a:r>
              <a:rPr sz="2400" spc="130" dirty="0">
                <a:solidFill>
                  <a:srgbClr val="006FC0"/>
                </a:solidFill>
                <a:latin typeface="Cambria"/>
                <a:cs typeface="Cambria"/>
              </a:rPr>
              <a:t>20px 	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30px</a:t>
            </a:r>
            <a:r>
              <a:rPr sz="2400" spc="2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blue</a:t>
            </a:r>
            <a:r>
              <a:rPr sz="2400" spc="1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,</a:t>
            </a:r>
            <a:r>
              <a:rPr sz="2400" spc="1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Cambria"/>
                <a:cs typeface="Cambria"/>
              </a:rPr>
              <a:t>-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20px</a:t>
            </a:r>
            <a:r>
              <a:rPr sz="2400" spc="2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20px</a:t>
            </a:r>
            <a:r>
              <a:rPr sz="2400" spc="2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06FC0"/>
                </a:solidFill>
                <a:latin typeface="Cambria"/>
                <a:cs typeface="Cambria"/>
              </a:rPr>
              <a:t>30px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Cambria"/>
                <a:cs typeface="Cambria"/>
              </a:rPr>
              <a:t>yellow;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box-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shadow: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40px</a:t>
            </a:r>
            <a:r>
              <a:rPr sz="2400" spc="2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06FC0"/>
                </a:solidFill>
                <a:latin typeface="Cambria"/>
                <a:cs typeface="Cambria"/>
              </a:rPr>
              <a:t>0px</a:t>
            </a:r>
            <a:r>
              <a:rPr sz="2400" spc="2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15px</a:t>
            </a:r>
            <a:r>
              <a:rPr sz="2400" spc="2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6FC0"/>
                </a:solidFill>
                <a:latin typeface="Cambria"/>
                <a:cs typeface="Cambria"/>
              </a:rPr>
              <a:t>#acb456;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  <a:tab pos="2484755" algn="l"/>
              </a:tabLst>
            </a:pP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box-</a:t>
            </a:r>
            <a:r>
              <a:rPr sz="2400" spc="140" dirty="0">
                <a:solidFill>
                  <a:srgbClr val="FF0000"/>
                </a:solidFill>
                <a:latin typeface="Cambria"/>
                <a:cs typeface="Cambria"/>
              </a:rPr>
              <a:t>shadow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155" dirty="0">
                <a:solidFill>
                  <a:srgbClr val="006FC0"/>
                </a:solidFill>
                <a:latin typeface="Cambria"/>
                <a:cs typeface="Cambria"/>
              </a:rPr>
              <a:t>0px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06FC0"/>
                </a:solidFill>
                <a:latin typeface="Cambria"/>
                <a:cs typeface="Cambria"/>
              </a:rPr>
              <a:t>0px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30px</a:t>
            </a:r>
            <a:r>
              <a:rPr sz="24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Cambria"/>
                <a:cs typeface="Cambria"/>
              </a:rPr>
              <a:t>10px</a:t>
            </a:r>
            <a:r>
              <a:rPr sz="2400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6FC0"/>
                </a:solidFill>
                <a:latin typeface="Cambria"/>
                <a:cs typeface="Cambria"/>
              </a:rPr>
              <a:t>red</a:t>
            </a:r>
            <a:r>
              <a:rPr sz="24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inset</a:t>
            </a:r>
            <a:r>
              <a:rPr sz="24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Cambria"/>
                <a:cs typeface="Cambria"/>
              </a:rPr>
              <a:t>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006" y="4027678"/>
            <a:ext cx="241935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float: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right;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float: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6FC0"/>
                </a:solidFill>
                <a:latin typeface="Cambria"/>
                <a:cs typeface="Cambria"/>
              </a:rPr>
              <a:t>left;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clear:</a:t>
            </a:r>
            <a:r>
              <a:rPr sz="24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left;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clear: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Cambria"/>
                <a:cs typeface="Cambria"/>
              </a:rPr>
              <a:t>right;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clear: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6FC0"/>
                </a:solidFill>
                <a:latin typeface="Cambria"/>
                <a:cs typeface="Cambria"/>
              </a:rPr>
              <a:t>both;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display: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table;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3627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50" dirty="0"/>
              <a:t> </a:t>
            </a:r>
            <a:r>
              <a:rPr spc="-20" dirty="0"/>
              <a:t>Properties:</a:t>
            </a:r>
            <a:r>
              <a:rPr spc="125" dirty="0"/>
              <a:t> </a:t>
            </a:r>
            <a:r>
              <a:rPr spc="75" dirty="0"/>
              <a:t>Font</a:t>
            </a:r>
            <a:r>
              <a:rPr spc="135" dirty="0"/>
              <a:t> </a:t>
            </a:r>
            <a:r>
              <a:rPr spc="265" dirty="0"/>
              <a:t>&amp;</a:t>
            </a:r>
            <a:r>
              <a:rPr spc="155" dirty="0"/>
              <a:t> </a:t>
            </a:r>
            <a:r>
              <a:rPr spc="-10" dirty="0"/>
              <a:t>Scrollbar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6131560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font-</a:t>
            </a: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size:</a:t>
            </a:r>
            <a:r>
              <a:rPr sz="2400" spc="28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80px;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font-family:</a:t>
            </a:r>
            <a:r>
              <a:rPr sz="2400" spc="27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cursive;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and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200" dirty="0">
                <a:latin typeface="Cambria"/>
                <a:cs typeface="Cambria"/>
              </a:rPr>
              <a:t>more…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font-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weight: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800;</a:t>
            </a:r>
            <a:r>
              <a:rPr sz="2400" spc="26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bolder;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and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200" dirty="0">
                <a:latin typeface="Cambria"/>
                <a:cs typeface="Cambria"/>
              </a:rPr>
              <a:t>more…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font-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style:</a:t>
            </a:r>
            <a:r>
              <a:rPr sz="2400" spc="27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italic;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font-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variant:</a:t>
            </a:r>
            <a:r>
              <a:rPr sz="2400" spc="26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normal;</a:t>
            </a:r>
            <a:r>
              <a:rPr sz="2400" spc="25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small-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caps;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70" dirty="0">
                <a:solidFill>
                  <a:srgbClr val="E40000"/>
                </a:solidFill>
                <a:latin typeface="Cambria"/>
                <a:cs typeface="Cambria"/>
              </a:rPr>
              <a:t>line-</a:t>
            </a: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height:</a:t>
            </a:r>
            <a:r>
              <a:rPr sz="2400" spc="25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50px;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Forte" panose="03060902040502070203" pitchFamily="66" charset="0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50" dirty="0">
                <a:solidFill>
                  <a:srgbClr val="FF0000"/>
                </a:solidFill>
                <a:latin typeface="Cambria"/>
                <a:cs typeface="Cambria"/>
              </a:rPr>
              <a:t>Google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Font</a:t>
            </a:r>
            <a:r>
              <a:rPr sz="24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Family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-30" dirty="0">
                <a:solidFill>
                  <a:srgbClr val="FF0000"/>
                </a:solidFill>
                <a:latin typeface="Cambria"/>
                <a:cs typeface="Cambria"/>
              </a:rPr>
              <a:t>::-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webkit-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scrollbar</a:t>
            </a:r>
            <a:r>
              <a:rPr sz="240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{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451A4"/>
                </a:solidFill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670300" algn="l"/>
              </a:tabLst>
            </a:pPr>
            <a:r>
              <a:rPr sz="2400" spc="-35" dirty="0">
                <a:solidFill>
                  <a:srgbClr val="FF0000"/>
                </a:solidFill>
                <a:latin typeface="Cambria"/>
                <a:cs typeface="Cambria"/>
              </a:rPr>
              <a:t>::-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webkit-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scrollbar-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track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{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451A4"/>
                </a:solidFill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30" dirty="0">
                <a:solidFill>
                  <a:srgbClr val="FF0000"/>
                </a:solidFill>
                <a:latin typeface="Cambria"/>
                <a:cs typeface="Cambria"/>
              </a:rPr>
              <a:t>::-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webkit-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scrollbar-</a:t>
            </a:r>
            <a:r>
              <a:rPr sz="2400" spc="170" dirty="0">
                <a:solidFill>
                  <a:srgbClr val="FF0000"/>
                </a:solidFill>
                <a:latin typeface="Cambria"/>
                <a:cs typeface="Cambria"/>
              </a:rPr>
              <a:t>thumb</a:t>
            </a:r>
            <a:r>
              <a:rPr sz="2400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{</a:t>
            </a:r>
            <a:r>
              <a:rPr sz="2400" spc="1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451A4"/>
                </a:solidFill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90" dirty="0"/>
              <a:t> </a:t>
            </a:r>
            <a:r>
              <a:rPr spc="-20" dirty="0"/>
              <a:t>Properties:</a:t>
            </a:r>
            <a:r>
              <a:rPr spc="170" dirty="0"/>
              <a:t> </a:t>
            </a:r>
            <a:r>
              <a:rPr dirty="0"/>
              <a:t>Text</a:t>
            </a:r>
            <a:r>
              <a:rPr spc="175" dirty="0"/>
              <a:t> </a:t>
            </a:r>
            <a:r>
              <a:rPr dirty="0"/>
              <a:t>Formatting</a:t>
            </a:r>
            <a:r>
              <a:rPr spc="180" dirty="0"/>
              <a:t> </a:t>
            </a:r>
            <a:r>
              <a:rPr spc="265" dirty="0"/>
              <a:t>&amp;</a:t>
            </a:r>
            <a:r>
              <a:rPr spc="240" dirty="0"/>
              <a:t> </a:t>
            </a:r>
            <a:r>
              <a:rPr spc="-10" dirty="0"/>
              <a:t>Decoration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9655810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text-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align:</a:t>
            </a:r>
            <a:r>
              <a:rPr sz="24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center;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justify;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start</a:t>
            </a:r>
            <a:r>
              <a:rPr sz="2400" spc="20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end;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left;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right;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text-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align-last:</a:t>
            </a:r>
            <a:r>
              <a:rPr sz="240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auto;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center;</a:t>
            </a:r>
            <a:r>
              <a:rPr sz="2400" spc="24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justify;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left;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right;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text-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transform:</a:t>
            </a:r>
            <a:r>
              <a:rPr sz="240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uppercase;</a:t>
            </a:r>
            <a:r>
              <a:rPr sz="2400" spc="2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capitalize;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lowercase;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none;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text-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indent:</a:t>
            </a:r>
            <a:r>
              <a:rPr sz="2400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250px;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word-</a:t>
            </a: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spacing:</a:t>
            </a:r>
            <a:r>
              <a:rPr sz="24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normal;</a:t>
            </a:r>
            <a:r>
              <a:rPr sz="2400" spc="24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80px;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letter-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spacing:</a:t>
            </a:r>
            <a:r>
              <a:rPr sz="24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normal;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150px;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"/>
            </a:pP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0" dirty="0">
                <a:solidFill>
                  <a:srgbClr val="E40000"/>
                </a:solidFill>
                <a:latin typeface="Cambria"/>
                <a:cs typeface="Cambria"/>
              </a:rPr>
              <a:t>text-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decoration-</a:t>
            </a:r>
            <a:r>
              <a:rPr sz="2400" spc="85" dirty="0">
                <a:solidFill>
                  <a:srgbClr val="E40000"/>
                </a:solidFill>
                <a:latin typeface="Cambria"/>
                <a:cs typeface="Cambria"/>
              </a:rPr>
              <a:t>line</a:t>
            </a:r>
            <a:r>
              <a:rPr sz="2400" spc="85" dirty="0">
                <a:latin typeface="Cambria"/>
                <a:cs typeface="Cambria"/>
              </a:rPr>
              <a:t>: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line-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through;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E40000"/>
                </a:solidFill>
                <a:latin typeface="Cambria"/>
                <a:cs typeface="Cambria"/>
              </a:rPr>
              <a:t>text-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decoration-</a:t>
            </a: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color</a:t>
            </a:r>
            <a:r>
              <a:rPr sz="2400" spc="100" dirty="0">
                <a:latin typeface="Cambria"/>
                <a:cs typeface="Cambria"/>
              </a:rPr>
              <a:t>: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451A4"/>
                </a:solidFill>
                <a:latin typeface="Cambria"/>
                <a:cs typeface="Cambria"/>
              </a:rPr>
              <a:t>red;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E40000"/>
                </a:solidFill>
                <a:latin typeface="Cambria"/>
                <a:cs typeface="Cambria"/>
              </a:rPr>
              <a:t>text-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decoration-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style</a:t>
            </a:r>
            <a:r>
              <a:rPr sz="2400" spc="90" dirty="0">
                <a:latin typeface="Cambria"/>
                <a:cs typeface="Cambria"/>
              </a:rPr>
              <a:t>: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double;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0" dirty="0">
                <a:solidFill>
                  <a:srgbClr val="E40000"/>
                </a:solidFill>
                <a:latin typeface="Cambria"/>
                <a:cs typeface="Cambria"/>
              </a:rPr>
              <a:t>text-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decoration-</a:t>
            </a: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thickness:</a:t>
            </a:r>
            <a:r>
              <a:rPr sz="2400" spc="34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12px;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65" dirty="0">
                <a:latin typeface="Cambria"/>
                <a:cs typeface="Cambria"/>
              </a:rPr>
              <a:t>Shortcut: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spc="85" dirty="0">
                <a:solidFill>
                  <a:srgbClr val="E40000"/>
                </a:solidFill>
                <a:latin typeface="Cambria"/>
                <a:cs typeface="Cambria"/>
              </a:rPr>
              <a:t>text-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decoration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aqua</a:t>
            </a:r>
            <a:r>
              <a:rPr sz="2400" spc="1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10px</a:t>
            </a:r>
            <a:r>
              <a:rPr sz="2400" spc="24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underline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0451A4"/>
                </a:solidFill>
                <a:latin typeface="Cambria"/>
                <a:cs typeface="Cambria"/>
              </a:rPr>
              <a:t>wavy</a:t>
            </a:r>
            <a:r>
              <a:rPr sz="2400" spc="45" dirty="0">
                <a:latin typeface="Cambria"/>
                <a:cs typeface="Cambria"/>
              </a:rPr>
              <a:t>;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70" dirty="0"/>
              <a:t> </a:t>
            </a:r>
            <a:r>
              <a:rPr spc="-20" dirty="0"/>
              <a:t>Properties:</a:t>
            </a:r>
            <a:r>
              <a:rPr spc="55" dirty="0"/>
              <a:t> </a:t>
            </a:r>
            <a:r>
              <a:rPr spc="-55" dirty="0"/>
              <a:t>Text-</a:t>
            </a:r>
            <a:r>
              <a:rPr dirty="0"/>
              <a:t>shadow</a:t>
            </a:r>
            <a:r>
              <a:rPr spc="55" dirty="0"/>
              <a:t> </a:t>
            </a:r>
            <a:r>
              <a:rPr spc="265" dirty="0"/>
              <a:t>&amp;</a:t>
            </a:r>
            <a:r>
              <a:rPr spc="80" dirty="0"/>
              <a:t> </a:t>
            </a:r>
            <a:r>
              <a:rPr spc="50" dirty="0"/>
              <a:t>Column-</a:t>
            </a:r>
            <a:r>
              <a:rPr spc="75" dirty="0"/>
              <a:t>Count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956" y="757474"/>
          <a:ext cx="7291703" cy="1090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7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marL="2326640">
                        <a:lnSpc>
                          <a:spcPts val="2755"/>
                        </a:lnSpc>
                      </a:pPr>
                      <a:r>
                        <a:rPr sz="2400" spc="-60" dirty="0">
                          <a:latin typeface="Cambria"/>
                          <a:cs typeface="Cambria"/>
                        </a:rPr>
                        <a:t>(</a:t>
                      </a:r>
                      <a:r>
                        <a:rPr sz="2400" b="1" spc="-60" dirty="0">
                          <a:latin typeface="Cambria"/>
                          <a:cs typeface="Cambria"/>
                        </a:rPr>
                        <a:t>h-</a:t>
                      </a:r>
                      <a:r>
                        <a:rPr sz="2400" b="1" spc="120" dirty="0">
                          <a:latin typeface="Cambria"/>
                          <a:cs typeface="Cambria"/>
                        </a:rPr>
                        <a:t>offset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2755"/>
                        </a:lnSpc>
                      </a:pPr>
                      <a:r>
                        <a:rPr sz="2400" b="1" spc="80" dirty="0">
                          <a:latin typeface="Cambria"/>
                          <a:cs typeface="Cambria"/>
                        </a:rPr>
                        <a:t>v-</a:t>
                      </a:r>
                      <a:r>
                        <a:rPr sz="2400" b="1" spc="120" dirty="0">
                          <a:latin typeface="Cambria"/>
                          <a:cs typeface="Cambria"/>
                        </a:rPr>
                        <a:t>offset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2755"/>
                        </a:lnSpc>
                      </a:pPr>
                      <a:r>
                        <a:rPr sz="2400" b="1" spc="45" dirty="0">
                          <a:latin typeface="Cambria"/>
                          <a:cs typeface="Cambria"/>
                        </a:rPr>
                        <a:t>blur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755"/>
                        </a:lnSpc>
                      </a:pPr>
                      <a:r>
                        <a:rPr sz="2400" b="1" spc="-10" dirty="0">
                          <a:latin typeface="Cambria"/>
                          <a:cs typeface="Cambria"/>
                        </a:rPr>
                        <a:t>color)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80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85" dirty="0">
                          <a:solidFill>
                            <a:srgbClr val="E40000"/>
                          </a:solidFill>
                          <a:latin typeface="Cambria"/>
                          <a:cs typeface="Cambria"/>
                        </a:rPr>
                        <a:t>text-</a:t>
                      </a:r>
                      <a:r>
                        <a:rPr sz="2400" spc="114" dirty="0">
                          <a:solidFill>
                            <a:srgbClr val="E40000"/>
                          </a:solidFill>
                          <a:latin typeface="Cambria"/>
                          <a:cs typeface="Cambria"/>
                        </a:rPr>
                        <a:t>shadow</a:t>
                      </a:r>
                      <a:r>
                        <a:rPr sz="2400" spc="114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400" spc="2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130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4px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780"/>
                        </a:lnSpc>
                      </a:pPr>
                      <a:r>
                        <a:rPr sz="2400" spc="130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4px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780"/>
                        </a:lnSpc>
                      </a:pPr>
                      <a:r>
                        <a:rPr sz="2400" spc="130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4px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2780"/>
                        </a:lnSpc>
                      </a:pPr>
                      <a:r>
                        <a:rPr sz="2400" spc="70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gray;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55"/>
                        </a:lnSpc>
                        <a:buFont typeface="Wingdings"/>
                        <a:buChar char=""/>
                        <a:tabLst>
                          <a:tab pos="374015" algn="l"/>
                        </a:tabLst>
                      </a:pPr>
                      <a:r>
                        <a:rPr sz="2400" spc="85" dirty="0">
                          <a:solidFill>
                            <a:srgbClr val="E40000"/>
                          </a:solidFill>
                          <a:latin typeface="Cambria"/>
                          <a:cs typeface="Cambria"/>
                        </a:rPr>
                        <a:t>text-</a:t>
                      </a:r>
                      <a:r>
                        <a:rPr sz="2400" spc="114" dirty="0">
                          <a:solidFill>
                            <a:srgbClr val="E40000"/>
                          </a:solidFill>
                          <a:latin typeface="Cambria"/>
                          <a:cs typeface="Cambria"/>
                        </a:rPr>
                        <a:t>shadow</a:t>
                      </a:r>
                      <a:r>
                        <a:rPr sz="2400" spc="114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4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55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2400" spc="130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4px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755"/>
                        </a:lnSpc>
                      </a:pPr>
                      <a:r>
                        <a:rPr sz="2400" spc="-55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2400" spc="130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4px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755"/>
                        </a:lnSpc>
                      </a:pPr>
                      <a:r>
                        <a:rPr sz="2400" spc="130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2px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2755"/>
                        </a:lnSpc>
                      </a:pPr>
                      <a:r>
                        <a:rPr sz="2400" spc="55" dirty="0">
                          <a:solidFill>
                            <a:srgbClr val="0451A4"/>
                          </a:solidFill>
                          <a:latin typeface="Cambria"/>
                          <a:cs typeface="Cambria"/>
                        </a:rPr>
                        <a:t>red;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0006" y="1832609"/>
            <a:ext cx="1080198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E40000"/>
                </a:solidFill>
                <a:latin typeface="Cambria"/>
                <a:cs typeface="Cambria"/>
              </a:rPr>
              <a:t>text-</a:t>
            </a: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shadow</a:t>
            </a:r>
            <a:r>
              <a:rPr sz="2400" spc="114" dirty="0">
                <a:latin typeface="Cambria"/>
                <a:cs typeface="Cambria"/>
              </a:rPr>
              <a:t>: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8px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8px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3px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55" dirty="0">
                <a:solidFill>
                  <a:srgbClr val="0451A4"/>
                </a:solidFill>
                <a:latin typeface="Cambria"/>
                <a:cs typeface="Cambria"/>
              </a:rPr>
              <a:t>-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8px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55" dirty="0">
                <a:solidFill>
                  <a:srgbClr val="0451A4"/>
                </a:solidFill>
                <a:latin typeface="Cambria"/>
                <a:cs typeface="Cambria"/>
              </a:rPr>
              <a:t>-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8px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4px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green,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4px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55" dirty="0">
                <a:solidFill>
                  <a:srgbClr val="0451A4"/>
                </a:solidFill>
                <a:latin typeface="Cambria"/>
                <a:cs typeface="Cambria"/>
              </a:rPr>
              <a:t>-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4px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3px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blue,</a:t>
            </a:r>
            <a:endParaRPr sz="2400">
              <a:latin typeface="Cambria"/>
              <a:cs typeface="Cambria"/>
            </a:endParaRPr>
          </a:p>
          <a:p>
            <a:pPr marL="2301875">
              <a:lnSpc>
                <a:spcPct val="100000"/>
              </a:lnSpc>
            </a:pPr>
            <a:r>
              <a:rPr sz="2400" spc="-60" dirty="0">
                <a:solidFill>
                  <a:srgbClr val="0451A4"/>
                </a:solidFill>
                <a:latin typeface="Cambria"/>
                <a:cs typeface="Cambria"/>
              </a:rPr>
              <a:t>-</a:t>
            </a:r>
            <a:r>
              <a:rPr sz="2400" spc="145" dirty="0">
                <a:solidFill>
                  <a:srgbClr val="0451A4"/>
                </a:solidFill>
                <a:latin typeface="Cambria"/>
                <a:cs typeface="Cambria"/>
              </a:rPr>
              <a:t>15px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451A4"/>
                </a:solidFill>
                <a:latin typeface="Cambria"/>
                <a:cs typeface="Cambria"/>
              </a:rPr>
              <a:t>15px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8px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black;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85" dirty="0">
                <a:solidFill>
                  <a:srgbClr val="E40000"/>
                </a:solidFill>
                <a:latin typeface="Cambria"/>
                <a:cs typeface="Cambria"/>
              </a:rPr>
              <a:t>text-</a:t>
            </a: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shadow</a:t>
            </a:r>
            <a:r>
              <a:rPr sz="2400" spc="114" dirty="0">
                <a:latin typeface="Cambria"/>
                <a:cs typeface="Cambria"/>
              </a:rPr>
              <a:t>: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4px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0px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2px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aqua;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solidFill>
                  <a:srgbClr val="FF0000"/>
                </a:solidFill>
                <a:latin typeface="Cambria"/>
                <a:cs typeface="Cambria"/>
              </a:rPr>
              <a:t>column-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count: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0451A4"/>
                </a:solidFill>
                <a:latin typeface="Cambria"/>
                <a:cs typeface="Cambria"/>
              </a:rPr>
              <a:t>4;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column-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gap:</a:t>
            </a:r>
            <a:r>
              <a:rPr sz="24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50px;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column-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rule:</a:t>
            </a:r>
            <a:r>
              <a:rPr sz="240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15px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groove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lightblue;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5" dirty="0">
                <a:solidFill>
                  <a:srgbClr val="FF0000"/>
                </a:solidFill>
                <a:latin typeface="Cambria"/>
                <a:cs typeface="Cambria"/>
              </a:rPr>
              <a:t>column-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span: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none;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451A4"/>
                </a:solidFill>
                <a:latin typeface="Cambria"/>
                <a:cs typeface="Cambria"/>
              </a:rPr>
              <a:t>all;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80" dirty="0"/>
              <a:t> </a:t>
            </a:r>
            <a:r>
              <a:rPr spc="-20" dirty="0"/>
              <a:t>Properties:</a:t>
            </a:r>
            <a:r>
              <a:rPr spc="55" dirty="0"/>
              <a:t> </a:t>
            </a:r>
            <a:r>
              <a:rPr spc="110" dirty="0"/>
              <a:t>List-</a:t>
            </a:r>
            <a:r>
              <a:rPr spc="80" dirty="0"/>
              <a:t>Style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6334760" cy="331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list-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style-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image:</a:t>
            </a:r>
            <a:r>
              <a:rPr sz="240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url('image/tiger_icon.jpg');</a:t>
            </a:r>
            <a:endParaRPr sz="2400">
              <a:latin typeface="Cambria"/>
              <a:cs typeface="Cambria"/>
            </a:endParaRPr>
          </a:p>
          <a:p>
            <a:pPr marL="12700" marR="372745">
              <a:lnSpc>
                <a:spcPct val="100000"/>
              </a:lnSpc>
              <a:spcBef>
                <a:spcPts val="5"/>
              </a:spcBef>
              <a:tabLst>
                <a:tab pos="4241800" algn="l"/>
              </a:tabLst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list-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style-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position: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inside;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outside; 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list-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style-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type:</a:t>
            </a:r>
            <a:r>
              <a:rPr sz="240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upper-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alpha;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165" dirty="0">
                <a:latin typeface="Cambria"/>
                <a:cs typeface="Cambria"/>
              </a:rPr>
              <a:t>and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200" dirty="0">
                <a:latin typeface="Cambria"/>
                <a:cs typeface="Cambria"/>
              </a:rPr>
              <a:t>more…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65" dirty="0">
                <a:latin typeface="Cambria"/>
                <a:cs typeface="Cambria"/>
              </a:rPr>
              <a:t>Shortcut: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list-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style:</a:t>
            </a:r>
            <a:r>
              <a:rPr sz="240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451A4"/>
                </a:solidFill>
                <a:latin typeface="Cambria"/>
                <a:cs typeface="Cambria"/>
              </a:rPr>
              <a:t>lower-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roman</a:t>
            </a:r>
            <a:r>
              <a:rPr sz="2400" spc="26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inside;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list-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style:</a:t>
            </a:r>
            <a:r>
              <a:rPr sz="2400" spc="3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url('image/tiger_icon.jpg')</a:t>
            </a:r>
            <a:r>
              <a:rPr sz="2400" spc="3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inside;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90" dirty="0">
                <a:latin typeface="Cambria"/>
                <a:cs typeface="Cambria"/>
              </a:rPr>
              <a:t>Note:</a:t>
            </a:r>
            <a:r>
              <a:rPr sz="2400" b="1" spc="210" dirty="0">
                <a:latin typeface="Cambria"/>
                <a:cs typeface="Cambria"/>
              </a:rPr>
              <a:t> </a:t>
            </a:r>
            <a:r>
              <a:rPr sz="2400" b="1" spc="55" dirty="0">
                <a:latin typeface="Cambria"/>
                <a:cs typeface="Cambria"/>
              </a:rPr>
              <a:t>For</a:t>
            </a:r>
            <a:r>
              <a:rPr sz="2400" b="1" spc="220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icons</a:t>
            </a:r>
            <a:r>
              <a:rPr sz="2400" b="1" spc="210" dirty="0">
                <a:latin typeface="Cambria"/>
                <a:cs typeface="Cambria"/>
              </a:rPr>
              <a:t> </a:t>
            </a:r>
            <a:r>
              <a:rPr sz="2400" b="1" spc="90" dirty="0">
                <a:latin typeface="Cambria"/>
                <a:cs typeface="Cambria"/>
              </a:rPr>
              <a:t>website</a:t>
            </a:r>
            <a:r>
              <a:rPr sz="2400" b="1" spc="250" dirty="0">
                <a:latin typeface="Cambria"/>
                <a:cs typeface="Cambria"/>
              </a:rPr>
              <a:t> </a:t>
            </a:r>
            <a:r>
              <a:rPr sz="2400" b="1" spc="90" dirty="0">
                <a:latin typeface="Cambria"/>
                <a:cs typeface="Cambria"/>
              </a:rPr>
              <a:t>iconfinder.com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65" dirty="0"/>
              <a:t> </a:t>
            </a:r>
            <a:r>
              <a:rPr spc="-20" dirty="0"/>
              <a:t>Properties:</a:t>
            </a:r>
            <a:r>
              <a:rPr spc="50" dirty="0"/>
              <a:t> </a:t>
            </a:r>
            <a:r>
              <a:rPr spc="-10" dirty="0"/>
              <a:t>Background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11399520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background-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image:</a:t>
            </a:r>
            <a:r>
              <a:rPr sz="240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url('image/circle.gif');</a:t>
            </a:r>
            <a:endParaRPr sz="2400">
              <a:latin typeface="Cambria"/>
              <a:cs typeface="Cambria"/>
            </a:endParaRPr>
          </a:p>
          <a:p>
            <a:pPr marL="354330" marR="5080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308985" algn="l"/>
              </a:tabLst>
            </a:pP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background-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repeat:</a:t>
            </a:r>
            <a:r>
              <a:rPr sz="2400" spc="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repeat;</a:t>
            </a:r>
            <a:r>
              <a:rPr sz="2400" spc="25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no-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repeat;</a:t>
            </a:r>
            <a:r>
              <a:rPr sz="2400" spc="2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repeat-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x;</a:t>
            </a:r>
            <a:r>
              <a:rPr sz="2400" spc="2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repeat-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y;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round; 	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space;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background-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position: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top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left;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top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center;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top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right;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center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left;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3670300" marR="56515">
              <a:lnSpc>
                <a:spcPct val="100000"/>
              </a:lnSpc>
              <a:tabLst>
                <a:tab pos="4431665" algn="l"/>
                <a:tab pos="11021695" algn="l"/>
              </a:tabLst>
            </a:pP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center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center;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center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right;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bottom</a:t>
            </a:r>
            <a:r>
              <a:rPr sz="2400" spc="24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left;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or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bottom</a:t>
            </a:r>
            <a:r>
              <a:rPr sz="2400" spc="24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center;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bottom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right;</a:t>
            </a:r>
            <a:r>
              <a:rPr sz="2400" spc="19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451A4"/>
                </a:solidFill>
                <a:latin typeface="Cambria"/>
                <a:cs typeface="Cambria"/>
              </a:rPr>
              <a:t>100px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120px;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65" dirty="0">
                <a:latin typeface="Cambria"/>
                <a:cs typeface="Cambria"/>
              </a:rPr>
              <a:t>or </a:t>
            </a:r>
            <a:r>
              <a:rPr sz="2400" spc="-25" dirty="0">
                <a:solidFill>
                  <a:srgbClr val="0451A4"/>
                </a:solidFill>
                <a:latin typeface="Cambria"/>
                <a:cs typeface="Cambria"/>
              </a:rPr>
              <a:t>45%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-20" dirty="0">
                <a:solidFill>
                  <a:srgbClr val="0451A4"/>
                </a:solidFill>
                <a:latin typeface="Cambria"/>
                <a:cs typeface="Cambria"/>
              </a:rPr>
              <a:t>95%;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80" dirty="0">
                <a:latin typeface="Cambria"/>
                <a:cs typeface="Cambria"/>
              </a:rPr>
              <a:t>Shortcut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  <a:tab pos="2381250" algn="l"/>
                <a:tab pos="7720330" algn="l"/>
              </a:tabLst>
            </a:pP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url('image/ducklaugh.gif')</a:t>
            </a:r>
            <a:r>
              <a:rPr sz="2400" spc="1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70%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0451A4"/>
                </a:solidFill>
                <a:latin typeface="Cambria"/>
                <a:cs typeface="Cambria"/>
              </a:rPr>
              <a:t>20%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no-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repeat;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background-attachment: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scroll;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fixed;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background-size: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auto;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contain;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cover;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10px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60px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;</a:t>
            </a:r>
            <a:r>
              <a:rPr sz="2400" spc="2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100%</a:t>
            </a:r>
            <a:r>
              <a:rPr sz="2400" spc="2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100%;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background-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origin:</a:t>
            </a:r>
            <a:r>
              <a:rPr sz="2400" spc="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border-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r>
              <a:rPr sz="2400" spc="3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content-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r>
              <a:rPr sz="2400" spc="29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padding-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background-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clip:</a:t>
            </a:r>
            <a:r>
              <a:rPr sz="2400" spc="2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border-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content-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r>
              <a:rPr sz="2400" spc="2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padding-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box;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200" dirty="0"/>
              <a:t> </a:t>
            </a:r>
            <a:r>
              <a:rPr spc="-20" dirty="0"/>
              <a:t>Properties:</a:t>
            </a:r>
            <a:r>
              <a:rPr spc="180" dirty="0"/>
              <a:t> </a:t>
            </a:r>
            <a:r>
              <a:rPr dirty="0"/>
              <a:t>Linear-</a:t>
            </a:r>
            <a:r>
              <a:rPr spc="-10" dirty="0"/>
              <a:t>Gradient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6168"/>
            <a:ext cx="1059561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Linear-</a:t>
            </a:r>
            <a:r>
              <a:rPr sz="2400" b="1" spc="70" dirty="0">
                <a:latin typeface="Cambria"/>
                <a:cs typeface="Cambria"/>
              </a:rPr>
              <a:t>Gradient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linear-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gradient(red,</a:t>
            </a:r>
            <a:r>
              <a:rPr sz="2400" spc="26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2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linear-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gradient(to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right,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linear-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gradient(to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bottom</a:t>
            </a:r>
            <a:r>
              <a:rPr sz="2400" spc="25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451A4"/>
                </a:solidFill>
                <a:latin typeface="Cambria"/>
                <a:cs typeface="Cambria"/>
              </a:rPr>
              <a:t>left,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26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linear-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gradient(</a:t>
            </a:r>
            <a:r>
              <a:rPr sz="2400" spc="25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0451A4"/>
                </a:solidFill>
                <a:latin typeface="Cambria"/>
                <a:cs typeface="Cambria"/>
              </a:rPr>
              <a:t>35deg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,red,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29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linear-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gradient(48deg,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0451A4"/>
                </a:solidFill>
                <a:latin typeface="Cambria"/>
                <a:cs typeface="Cambria"/>
              </a:rPr>
              <a:t>#ff0000</a:t>
            </a:r>
            <a:r>
              <a:rPr sz="2400" spc="2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20%,</a:t>
            </a:r>
            <a:r>
              <a:rPr sz="2400" spc="20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blue</a:t>
            </a:r>
            <a:r>
              <a:rPr sz="2400" spc="19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80%);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  <a:spcBef>
                <a:spcPts val="5"/>
              </a:spcBef>
            </a:pPr>
            <a:r>
              <a:rPr sz="2400" b="1" spc="65" dirty="0">
                <a:latin typeface="Cambria"/>
                <a:cs typeface="Cambria"/>
              </a:rPr>
              <a:t>Repeating-</a:t>
            </a:r>
            <a:r>
              <a:rPr sz="2400" b="1" dirty="0">
                <a:latin typeface="Cambria"/>
                <a:cs typeface="Cambria"/>
              </a:rPr>
              <a:t>Linear-</a:t>
            </a:r>
            <a:r>
              <a:rPr sz="2400" b="1" spc="70" dirty="0">
                <a:latin typeface="Cambria"/>
                <a:cs typeface="Cambria"/>
              </a:rPr>
              <a:t>Gradient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repeating-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linear-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gradient(109deg,</a:t>
            </a:r>
            <a:r>
              <a:rPr sz="2400" spc="29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29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blue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25%);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215" dirty="0"/>
              <a:t> </a:t>
            </a:r>
            <a:r>
              <a:rPr spc="-20" dirty="0"/>
              <a:t>Properties:</a:t>
            </a:r>
            <a:r>
              <a:rPr spc="195" dirty="0"/>
              <a:t> </a:t>
            </a:r>
            <a:r>
              <a:rPr dirty="0"/>
              <a:t>Radial-</a:t>
            </a:r>
            <a:r>
              <a:rPr spc="35" dirty="0"/>
              <a:t>Gradient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6168"/>
            <a:ext cx="11360785" cy="551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Radial-</a:t>
            </a:r>
            <a:r>
              <a:rPr sz="2400" b="1" spc="70" dirty="0">
                <a:latin typeface="Cambria"/>
                <a:cs typeface="Cambria"/>
              </a:rPr>
              <a:t>Gradient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gradient(red,</a:t>
            </a:r>
            <a:r>
              <a:rPr sz="2400" spc="26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2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gradient(red,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yellow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20%,</a:t>
            </a:r>
            <a:r>
              <a:rPr sz="2400" spc="19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blue</a:t>
            </a:r>
            <a:r>
              <a:rPr sz="2400" spc="1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90%);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gradient(circle,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r>
              <a:rPr sz="2400" spc="3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gradient(circle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closest-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side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at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0451A4"/>
                </a:solidFill>
                <a:latin typeface="Cambria"/>
                <a:cs typeface="Cambria"/>
              </a:rPr>
              <a:t>60%</a:t>
            </a:r>
            <a:r>
              <a:rPr sz="2400" spc="1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20%,</a:t>
            </a:r>
            <a:r>
              <a:rPr sz="2400" spc="1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1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endParaRPr sz="2400">
              <a:latin typeface="Cambria"/>
              <a:cs typeface="Cambria"/>
            </a:endParaRPr>
          </a:p>
          <a:p>
            <a:pPr marL="2301875">
              <a:lnSpc>
                <a:spcPct val="100000"/>
              </a:lnSpc>
              <a:spcBef>
                <a:spcPts val="5"/>
              </a:spcBef>
            </a:pP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330" marR="361315" indent="-342265">
              <a:lnSpc>
                <a:spcPct val="100000"/>
              </a:lnSpc>
              <a:buFont typeface="Wingdings"/>
              <a:buChar char=""/>
              <a:tabLst>
                <a:tab pos="2301875" algn="l"/>
                <a:tab pos="7887334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gradient(circle</a:t>
            </a:r>
            <a:r>
              <a:rPr sz="2400" spc="2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farthest-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side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at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60%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20%,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yellow, 	</a:t>
            </a: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  <a:tab pos="5546725" algn="l"/>
                <a:tab pos="81908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gradient(circle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closest-corner</a:t>
            </a:r>
            <a:r>
              <a:rPr sz="2400" spc="26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at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60%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20%,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yellow,</a:t>
            </a:r>
            <a:endParaRPr sz="2400">
              <a:latin typeface="Cambria"/>
              <a:cs typeface="Cambria"/>
            </a:endParaRPr>
          </a:p>
          <a:p>
            <a:pPr marL="2301875">
              <a:lnSpc>
                <a:spcPct val="100000"/>
              </a:lnSpc>
            </a:pPr>
            <a:r>
              <a:rPr sz="2400" spc="40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 marL="354330" marR="5080" indent="-342265">
              <a:lnSpc>
                <a:spcPct val="100000"/>
              </a:lnSpc>
              <a:buFont typeface="Wingdings"/>
              <a:buChar char=""/>
              <a:tabLst>
                <a:tab pos="2301875" algn="l"/>
                <a:tab pos="8243570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gradient(circle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farthest-corner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at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60%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20%,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 yellow, 	</a:t>
            </a:r>
            <a:r>
              <a:rPr sz="2400" spc="45" dirty="0">
                <a:solidFill>
                  <a:srgbClr val="0451A4"/>
                </a:solidFill>
                <a:latin typeface="Cambria"/>
                <a:cs typeface="Cambria"/>
              </a:rPr>
              <a:t>blue);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FF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65" dirty="0">
                <a:latin typeface="Cambria"/>
                <a:cs typeface="Cambria"/>
              </a:rPr>
              <a:t>Repeating-</a:t>
            </a:r>
            <a:r>
              <a:rPr sz="2400" b="1" dirty="0">
                <a:latin typeface="Cambria"/>
                <a:cs typeface="Cambria"/>
              </a:rPr>
              <a:t>Radial-</a:t>
            </a:r>
            <a:r>
              <a:rPr sz="2400" b="1" spc="70" dirty="0">
                <a:latin typeface="Cambria"/>
                <a:cs typeface="Cambria"/>
              </a:rPr>
              <a:t>Gradient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background:</a:t>
            </a:r>
            <a:r>
              <a:rPr sz="2400" spc="2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repeating-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radial-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gradient(circle,</a:t>
            </a:r>
            <a:r>
              <a:rPr sz="2400" spc="24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red,</a:t>
            </a:r>
            <a:r>
              <a:rPr sz="2400" spc="2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yellow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451A4"/>
                </a:solidFill>
                <a:latin typeface="Cambria"/>
                <a:cs typeface="Cambria"/>
              </a:rPr>
              <a:t>20px,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blue</a:t>
            </a:r>
            <a:r>
              <a:rPr sz="2400" spc="1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70%</a:t>
            </a:r>
            <a:r>
              <a:rPr sz="2400" spc="18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0451A4"/>
                </a:solidFill>
                <a:latin typeface="Cambria"/>
                <a:cs typeface="Cambria"/>
              </a:rPr>
              <a:t>);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70" dirty="0"/>
              <a:t> </a:t>
            </a:r>
            <a:r>
              <a:rPr spc="-20" dirty="0"/>
              <a:t>Properties:</a:t>
            </a:r>
            <a:r>
              <a:rPr spc="150" dirty="0"/>
              <a:t> </a:t>
            </a:r>
            <a:r>
              <a:rPr dirty="0"/>
              <a:t>Opacity</a:t>
            </a:r>
            <a:r>
              <a:rPr spc="140" dirty="0"/>
              <a:t> </a:t>
            </a:r>
            <a:r>
              <a:rPr spc="265" dirty="0"/>
              <a:t>&amp;</a:t>
            </a:r>
            <a:r>
              <a:rPr spc="180" dirty="0"/>
              <a:t> </a:t>
            </a:r>
            <a:r>
              <a:rPr dirty="0"/>
              <a:t>Pseudo</a:t>
            </a:r>
            <a:r>
              <a:rPr spc="150" dirty="0"/>
              <a:t> </a:t>
            </a:r>
            <a:r>
              <a:rPr spc="70" dirty="0"/>
              <a:t>Classes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9246870" cy="2588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opacity: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0.9;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0451A4"/>
                </a:solidFill>
                <a:latin typeface="Cambria"/>
                <a:cs typeface="Cambria"/>
              </a:rPr>
              <a:t>70%;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  <a:tab pos="2848610" algn="l"/>
                <a:tab pos="3369945" algn="l"/>
                <a:tab pos="4566920" algn="l"/>
                <a:tab pos="5086350" algn="l"/>
                <a:tab pos="5955030" algn="l"/>
                <a:tab pos="6476365" algn="l"/>
                <a:tab pos="7793355" algn="l"/>
                <a:tab pos="8314690" algn="l"/>
              </a:tabLst>
            </a:pPr>
            <a:r>
              <a:rPr sz="2400" b="1" spc="70" dirty="0">
                <a:solidFill>
                  <a:srgbClr val="C00000"/>
                </a:solidFill>
                <a:latin typeface="Cambria"/>
                <a:cs typeface="Cambria"/>
              </a:rPr>
              <a:t>Selector</a:t>
            </a:r>
            <a:r>
              <a:rPr sz="2400" b="1" spc="2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75" dirty="0">
                <a:solidFill>
                  <a:srgbClr val="C00000"/>
                </a:solidFill>
                <a:latin typeface="Cambria"/>
                <a:cs typeface="Cambria"/>
              </a:rPr>
              <a:t>:hover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400" b="1" spc="-25" dirty="0">
                <a:latin typeface="Cambria"/>
                <a:cs typeface="Cambria"/>
              </a:rPr>
              <a:t>or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75" dirty="0">
                <a:solidFill>
                  <a:srgbClr val="C00000"/>
                </a:solidFill>
                <a:latin typeface="Cambria"/>
                <a:cs typeface="Cambria"/>
              </a:rPr>
              <a:t>:active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400" b="1" spc="-25" dirty="0">
                <a:latin typeface="Cambria"/>
                <a:cs typeface="Cambria"/>
              </a:rPr>
              <a:t>or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50" dirty="0">
                <a:solidFill>
                  <a:srgbClr val="C00000"/>
                </a:solidFill>
                <a:latin typeface="Cambria"/>
                <a:cs typeface="Cambria"/>
              </a:rPr>
              <a:t>:link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400" b="1" spc="-25" dirty="0">
                <a:latin typeface="Cambria"/>
                <a:cs typeface="Cambria"/>
              </a:rPr>
              <a:t>or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75" dirty="0">
                <a:solidFill>
                  <a:srgbClr val="C00000"/>
                </a:solidFill>
                <a:latin typeface="Cambria"/>
                <a:cs typeface="Cambria"/>
              </a:rPr>
              <a:t>:visited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400" b="1" spc="-25" dirty="0">
                <a:latin typeface="Cambria"/>
                <a:cs typeface="Cambria"/>
              </a:rPr>
              <a:t>or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100" dirty="0">
                <a:solidFill>
                  <a:srgbClr val="C00000"/>
                </a:solidFill>
                <a:latin typeface="Cambria"/>
                <a:cs typeface="Cambria"/>
              </a:rPr>
              <a:t>:focus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-50" dirty="0">
                <a:solidFill>
                  <a:srgbClr val="0451A4"/>
                </a:solidFill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spc="165" dirty="0">
                <a:solidFill>
                  <a:srgbClr val="E40000"/>
                </a:solidFill>
                <a:latin typeface="Cambria"/>
                <a:cs typeface="Cambria"/>
              </a:rPr>
              <a:t>CSS</a:t>
            </a:r>
            <a:r>
              <a:rPr sz="2400" spc="22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E40000"/>
                </a:solidFill>
                <a:latin typeface="Cambria"/>
                <a:cs typeface="Cambria"/>
              </a:rPr>
              <a:t>Properties.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b="1" spc="-50" dirty="0">
                <a:solidFill>
                  <a:srgbClr val="0451A4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65" dirty="0"/>
              <a:t> </a:t>
            </a:r>
            <a:r>
              <a:rPr spc="-20" dirty="0"/>
              <a:t>Properties:</a:t>
            </a:r>
            <a:r>
              <a:rPr spc="50" dirty="0"/>
              <a:t> </a:t>
            </a:r>
            <a:r>
              <a:rPr spc="35" dirty="0"/>
              <a:t>Display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372173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display:</a:t>
            </a:r>
            <a:r>
              <a:rPr sz="2400" spc="25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none;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display:</a:t>
            </a:r>
            <a:r>
              <a:rPr sz="2400" spc="25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block;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display:</a:t>
            </a:r>
            <a:r>
              <a:rPr sz="2400" spc="25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inline;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display:</a:t>
            </a:r>
            <a:r>
              <a:rPr sz="2400" spc="26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inline-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block;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display:</a:t>
            </a:r>
            <a:r>
              <a:rPr sz="2400" spc="25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flex;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justify-content:</a:t>
            </a:r>
            <a:r>
              <a:rPr sz="2400" spc="28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center;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5" dirty="0">
                <a:solidFill>
                  <a:srgbClr val="E40000"/>
                </a:solidFill>
                <a:latin typeface="Cambria"/>
                <a:cs typeface="Cambria"/>
              </a:rPr>
              <a:t>align-</a:t>
            </a: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items:</a:t>
            </a:r>
            <a:r>
              <a:rPr sz="2400" spc="26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center;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65" dirty="0"/>
              <a:t> </a:t>
            </a:r>
            <a:r>
              <a:rPr spc="-20" dirty="0"/>
              <a:t>Properties:</a:t>
            </a:r>
            <a:r>
              <a:rPr spc="50" dirty="0"/>
              <a:t> </a:t>
            </a:r>
            <a:r>
              <a:rPr spc="45" dirty="0"/>
              <a:t>Filter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8392160" cy="514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none;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0451A4"/>
                </a:solidFill>
                <a:latin typeface="Cambria"/>
                <a:cs typeface="Cambria"/>
              </a:rPr>
              <a:t>blur(5px);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0451A4"/>
                </a:solidFill>
                <a:latin typeface="Cambria"/>
                <a:cs typeface="Cambria"/>
              </a:rPr>
              <a:t>brightness(130%);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contrast(140%);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3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drop-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shadow(20px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60" dirty="0">
                <a:solidFill>
                  <a:srgbClr val="0451A4"/>
                </a:solidFill>
                <a:latin typeface="Cambria"/>
                <a:cs typeface="Cambria"/>
              </a:rPr>
              <a:t>-</a:t>
            </a:r>
            <a:r>
              <a:rPr sz="2400" spc="145" dirty="0">
                <a:solidFill>
                  <a:srgbClr val="0451A4"/>
                </a:solidFill>
                <a:latin typeface="Cambria"/>
                <a:cs typeface="Cambria"/>
              </a:rPr>
              <a:t>20px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4px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gray);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grayscale(80%);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hue-</a:t>
            </a:r>
            <a:r>
              <a:rPr sz="2400" spc="65" dirty="0">
                <a:solidFill>
                  <a:srgbClr val="0451A4"/>
                </a:solidFill>
                <a:latin typeface="Cambria"/>
                <a:cs typeface="Cambria"/>
              </a:rPr>
              <a:t>rotate(170deg);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invert(80%);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451A4"/>
                </a:solidFill>
                <a:latin typeface="Cambria"/>
                <a:cs typeface="Cambria"/>
              </a:rPr>
              <a:t>opacity(0.6);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saturate(150%);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22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sepia(150%);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E4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80" dirty="0">
                <a:latin typeface="Cambria"/>
                <a:cs typeface="Cambria"/>
              </a:rPr>
              <a:t>Multiple</a:t>
            </a:r>
            <a:r>
              <a:rPr sz="2400" b="1" spc="190" dirty="0">
                <a:latin typeface="Cambria"/>
                <a:cs typeface="Cambria"/>
              </a:rPr>
              <a:t> </a:t>
            </a:r>
            <a:r>
              <a:rPr sz="2400" b="1" spc="45" dirty="0">
                <a:latin typeface="Cambria"/>
                <a:cs typeface="Cambria"/>
              </a:rPr>
              <a:t>Filters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filter:</a:t>
            </a:r>
            <a:r>
              <a:rPr sz="2400" spc="40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contrast(130%)</a:t>
            </a:r>
            <a:r>
              <a:rPr sz="2400" spc="45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451A4"/>
                </a:solidFill>
                <a:latin typeface="Cambria"/>
                <a:cs typeface="Cambria"/>
              </a:rPr>
              <a:t>brightness(140%)</a:t>
            </a:r>
            <a:r>
              <a:rPr sz="2400" spc="43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451A4"/>
                </a:solidFill>
                <a:latin typeface="Cambria"/>
                <a:cs typeface="Cambria"/>
              </a:rPr>
              <a:t>saturate(145%);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65" dirty="0"/>
              <a:t> </a:t>
            </a:r>
            <a:r>
              <a:rPr spc="-20" dirty="0"/>
              <a:t>Properties:</a:t>
            </a:r>
            <a:r>
              <a:rPr spc="50" dirty="0"/>
              <a:t> </a:t>
            </a:r>
            <a:r>
              <a:rPr spc="-10" dirty="0"/>
              <a:t>Transition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1126236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E40000"/>
                </a:solidFill>
                <a:latin typeface="Cambria"/>
                <a:cs typeface="Cambria"/>
              </a:rPr>
              <a:t>transition-property:</a:t>
            </a:r>
            <a:r>
              <a:rPr sz="2400" spc="27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all;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width,</a:t>
            </a:r>
            <a:r>
              <a:rPr sz="2400" spc="19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0451A4"/>
                </a:solidFill>
                <a:latin typeface="Cambria"/>
                <a:cs typeface="Cambria"/>
              </a:rPr>
              <a:t>height,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border,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box-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shadow;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and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210" dirty="0">
                <a:latin typeface="Cambria"/>
                <a:cs typeface="Cambria"/>
              </a:rPr>
              <a:t>more…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transition-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duration:</a:t>
            </a:r>
            <a:r>
              <a:rPr sz="2400" spc="28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50s;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500ms,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0451A4"/>
                </a:solidFill>
                <a:latin typeface="Cambria"/>
                <a:cs typeface="Cambria"/>
              </a:rPr>
              <a:t>10s,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0451A4"/>
                </a:solidFill>
                <a:latin typeface="Cambria"/>
                <a:cs typeface="Cambria"/>
              </a:rPr>
              <a:t>5s,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0451A4"/>
                </a:solidFill>
                <a:latin typeface="Cambria"/>
                <a:cs typeface="Cambria"/>
              </a:rPr>
              <a:t>1s,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15s;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and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210" dirty="0">
                <a:latin typeface="Cambria"/>
                <a:cs typeface="Cambria"/>
              </a:rPr>
              <a:t>more…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transition-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delay:</a:t>
            </a:r>
            <a:r>
              <a:rPr sz="2400" spc="29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2s;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transition-</a:t>
            </a: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timing-</a:t>
            </a:r>
            <a:r>
              <a:rPr sz="2400" spc="140" dirty="0">
                <a:solidFill>
                  <a:srgbClr val="E40000"/>
                </a:solidFill>
                <a:latin typeface="Cambria"/>
                <a:cs typeface="Cambria"/>
              </a:rPr>
              <a:t>function:</a:t>
            </a:r>
            <a:r>
              <a:rPr sz="2400" spc="27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ease;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ease-in;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ease-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out;</a:t>
            </a:r>
            <a:r>
              <a:rPr sz="2400" spc="26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ease-</a:t>
            </a:r>
            <a:r>
              <a:rPr sz="2400" spc="60" dirty="0">
                <a:solidFill>
                  <a:srgbClr val="0451A4"/>
                </a:solidFill>
                <a:latin typeface="Cambria"/>
                <a:cs typeface="Cambria"/>
              </a:rPr>
              <a:t>in-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out;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4408170">
              <a:lnSpc>
                <a:spcPct val="100000"/>
              </a:lnSpc>
            </a:pP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linear;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  <a:tabLst>
                <a:tab pos="1885950" algn="l"/>
                <a:tab pos="3535045" algn="l"/>
                <a:tab pos="5040630" algn="l"/>
                <a:tab pos="7614284" algn="l"/>
              </a:tabLst>
            </a:pPr>
            <a:r>
              <a:rPr sz="2400" b="1" spc="80" dirty="0">
                <a:latin typeface="Cambria"/>
                <a:cs typeface="Cambria"/>
              </a:rPr>
              <a:t>Shortcut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40" dirty="0">
                <a:latin typeface="Cambria"/>
                <a:cs typeface="Cambria"/>
              </a:rPr>
              <a:t>(property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60" dirty="0">
                <a:latin typeface="Cambria"/>
                <a:cs typeface="Cambria"/>
              </a:rPr>
              <a:t>duration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70" dirty="0">
                <a:latin typeface="Cambria"/>
                <a:cs typeface="Cambria"/>
              </a:rPr>
              <a:t>timing-</a:t>
            </a:r>
            <a:r>
              <a:rPr sz="2400" b="1" spc="105" dirty="0">
                <a:latin typeface="Cambria"/>
                <a:cs typeface="Cambria"/>
              </a:rPr>
              <a:t>function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50" dirty="0">
                <a:latin typeface="Cambria"/>
                <a:cs typeface="Cambria"/>
              </a:rPr>
              <a:t>delay)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  <a:tab pos="3493770" algn="l"/>
                <a:tab pos="5044440" algn="l"/>
                <a:tab pos="7570470" algn="l"/>
              </a:tabLst>
            </a:pPr>
            <a:r>
              <a:rPr sz="2400" spc="105" dirty="0">
                <a:solidFill>
                  <a:srgbClr val="E40000"/>
                </a:solidFill>
                <a:latin typeface="Cambria"/>
                <a:cs typeface="Cambria"/>
              </a:rPr>
              <a:t>transition:</a:t>
            </a:r>
            <a:r>
              <a:rPr sz="2400" spc="25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all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140" dirty="0">
                <a:solidFill>
                  <a:srgbClr val="0451A4"/>
                </a:solidFill>
                <a:latin typeface="Cambria"/>
                <a:cs typeface="Cambria"/>
              </a:rPr>
              <a:t>600ms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ease-</a:t>
            </a:r>
            <a:r>
              <a:rPr sz="2400" spc="120" dirty="0">
                <a:solidFill>
                  <a:srgbClr val="0451A4"/>
                </a:solidFill>
                <a:latin typeface="Cambria"/>
                <a:cs typeface="Cambria"/>
              </a:rPr>
              <a:t>out</a:t>
            </a:r>
            <a:r>
              <a:rPr sz="2400" dirty="0">
                <a:solidFill>
                  <a:srgbClr val="0451A4"/>
                </a:solidFill>
                <a:latin typeface="Cambria"/>
                <a:cs typeface="Cambria"/>
              </a:rPr>
              <a:t>	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1s;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75" dirty="0"/>
              <a:t> </a:t>
            </a:r>
            <a:r>
              <a:rPr spc="-40" dirty="0"/>
              <a:t>Properties:</a:t>
            </a:r>
            <a:r>
              <a:rPr spc="-65" dirty="0"/>
              <a:t> </a:t>
            </a:r>
            <a:r>
              <a:rPr spc="-10" dirty="0"/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11487150" cy="5514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</a:t>
            </a: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name:</a:t>
            </a:r>
            <a:r>
              <a:rPr sz="2400" spc="26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example;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duration:</a:t>
            </a:r>
            <a:r>
              <a:rPr sz="2400" spc="31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3s;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</a:t>
            </a:r>
            <a:r>
              <a:rPr sz="2400" spc="95" dirty="0">
                <a:solidFill>
                  <a:srgbClr val="E40000"/>
                </a:solidFill>
                <a:latin typeface="Cambria"/>
                <a:cs typeface="Cambria"/>
              </a:rPr>
              <a:t>iteration-</a:t>
            </a: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count:</a:t>
            </a:r>
            <a:r>
              <a:rPr sz="2400" spc="28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infinite;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0451A4"/>
                </a:solidFill>
                <a:latin typeface="Cambria"/>
                <a:cs typeface="Cambria"/>
              </a:rPr>
              <a:t>5;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</a:t>
            </a:r>
            <a:r>
              <a:rPr sz="2400" spc="105" dirty="0">
                <a:solidFill>
                  <a:srgbClr val="E40000"/>
                </a:solidFill>
                <a:latin typeface="Cambria"/>
                <a:cs typeface="Cambria"/>
              </a:rPr>
              <a:t>direction:</a:t>
            </a:r>
            <a:r>
              <a:rPr sz="2400" spc="26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normal;</a:t>
            </a:r>
            <a:r>
              <a:rPr sz="2400" spc="26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reverse;</a:t>
            </a:r>
            <a:r>
              <a:rPr sz="2400" spc="25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alternate;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451A4"/>
                </a:solidFill>
                <a:latin typeface="Cambria"/>
                <a:cs typeface="Cambria"/>
              </a:rPr>
              <a:t>alternate-</a:t>
            </a:r>
            <a:r>
              <a:rPr sz="2400" spc="60" dirty="0">
                <a:solidFill>
                  <a:srgbClr val="0451A4"/>
                </a:solidFill>
                <a:latin typeface="Cambria"/>
                <a:cs typeface="Cambria"/>
              </a:rPr>
              <a:t>reverse;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</a:t>
            </a:r>
            <a:r>
              <a:rPr sz="2400" spc="95" dirty="0">
                <a:solidFill>
                  <a:srgbClr val="E40000"/>
                </a:solidFill>
                <a:latin typeface="Cambria"/>
                <a:cs typeface="Cambria"/>
              </a:rPr>
              <a:t>delay:</a:t>
            </a:r>
            <a:r>
              <a:rPr sz="2400" spc="28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2s;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animation-timing-</a:t>
            </a:r>
            <a:r>
              <a:rPr sz="2400" spc="140" dirty="0">
                <a:solidFill>
                  <a:srgbClr val="E40000"/>
                </a:solidFill>
                <a:latin typeface="Cambria"/>
                <a:cs typeface="Cambria"/>
              </a:rPr>
              <a:t>function:</a:t>
            </a:r>
            <a:r>
              <a:rPr sz="2400" spc="26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ease;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ease-in;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ease-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out;</a:t>
            </a:r>
            <a:r>
              <a:rPr sz="2400" spc="26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ease-</a:t>
            </a:r>
            <a:r>
              <a:rPr sz="2400" spc="65" dirty="0">
                <a:solidFill>
                  <a:srgbClr val="0451A4"/>
                </a:solidFill>
                <a:latin typeface="Cambria"/>
                <a:cs typeface="Cambria"/>
              </a:rPr>
              <a:t>in-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out;</a:t>
            </a:r>
            <a:r>
              <a:rPr sz="2400" spc="26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4408170">
              <a:lnSpc>
                <a:spcPct val="100000"/>
              </a:lnSpc>
            </a:pP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linear;</a:t>
            </a:r>
            <a:r>
              <a:rPr sz="2400" spc="2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steps(5,start);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steps(6,end);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play-</a:t>
            </a:r>
            <a:r>
              <a:rPr sz="2400" spc="95" dirty="0">
                <a:solidFill>
                  <a:srgbClr val="E40000"/>
                </a:solidFill>
                <a:latin typeface="Cambria"/>
                <a:cs typeface="Cambria"/>
              </a:rPr>
              <a:t>state:</a:t>
            </a:r>
            <a:r>
              <a:rPr sz="2400" spc="29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running;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paused;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animation-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fill-</a:t>
            </a:r>
            <a:r>
              <a:rPr sz="2400" spc="140" dirty="0">
                <a:solidFill>
                  <a:srgbClr val="E40000"/>
                </a:solidFill>
                <a:latin typeface="Cambria"/>
                <a:cs typeface="Cambria"/>
              </a:rPr>
              <a:t>mode:</a:t>
            </a:r>
            <a:r>
              <a:rPr sz="2400" spc="26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forwards;</a:t>
            </a:r>
            <a:r>
              <a:rPr sz="2400" spc="26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or</a:t>
            </a:r>
            <a:r>
              <a:rPr sz="2400" spc="229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backwards;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or</a:t>
            </a:r>
            <a:r>
              <a:rPr sz="2400" spc="21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both;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or</a:t>
            </a:r>
            <a:r>
              <a:rPr sz="2400" spc="229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none;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E4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  <a:tabLst>
                <a:tab pos="1696085" algn="l"/>
              </a:tabLst>
            </a:pPr>
            <a:r>
              <a:rPr sz="2400" b="1" spc="80" dirty="0">
                <a:latin typeface="Cambria"/>
                <a:cs typeface="Cambria"/>
              </a:rPr>
              <a:t>Shortcut</a:t>
            </a:r>
            <a:r>
              <a:rPr sz="2400" b="1" dirty="0">
                <a:latin typeface="Cambria"/>
                <a:cs typeface="Cambria"/>
              </a:rPr>
              <a:t>	(name</a:t>
            </a:r>
            <a:r>
              <a:rPr sz="2400" b="1" spc="320" dirty="0">
                <a:latin typeface="Cambria"/>
                <a:cs typeface="Cambria"/>
              </a:rPr>
              <a:t> </a:t>
            </a:r>
            <a:r>
              <a:rPr sz="2400" b="1" spc="75" dirty="0">
                <a:latin typeface="Cambria"/>
                <a:cs typeface="Cambria"/>
              </a:rPr>
              <a:t>dur.</a:t>
            </a:r>
            <a:r>
              <a:rPr sz="2400" b="1" spc="375" dirty="0">
                <a:latin typeface="Cambria"/>
                <a:cs typeface="Cambria"/>
              </a:rPr>
              <a:t> </a:t>
            </a:r>
            <a:r>
              <a:rPr sz="2400" b="1" spc="70" dirty="0">
                <a:latin typeface="Cambria"/>
                <a:cs typeface="Cambria"/>
              </a:rPr>
              <a:t>timing-</a:t>
            </a:r>
            <a:r>
              <a:rPr sz="2400" b="1" spc="130" dirty="0">
                <a:latin typeface="Cambria"/>
                <a:cs typeface="Cambria"/>
              </a:rPr>
              <a:t>fun.</a:t>
            </a:r>
            <a:r>
              <a:rPr sz="2400" b="1" spc="370" dirty="0">
                <a:latin typeface="Cambria"/>
                <a:cs typeface="Cambria"/>
              </a:rPr>
              <a:t> </a:t>
            </a:r>
            <a:r>
              <a:rPr sz="2400" b="1" spc="105" dirty="0">
                <a:latin typeface="Cambria"/>
                <a:cs typeface="Cambria"/>
              </a:rPr>
              <a:t>delay</a:t>
            </a:r>
            <a:r>
              <a:rPr sz="2400" b="1" spc="31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iteration-</a:t>
            </a:r>
            <a:r>
              <a:rPr sz="2400" b="1" spc="120" dirty="0">
                <a:latin typeface="Cambria"/>
                <a:cs typeface="Cambria"/>
              </a:rPr>
              <a:t>count</a:t>
            </a:r>
            <a:r>
              <a:rPr sz="2400" b="1" spc="340" dirty="0">
                <a:latin typeface="Cambria"/>
                <a:cs typeface="Cambria"/>
              </a:rPr>
              <a:t> </a:t>
            </a:r>
            <a:r>
              <a:rPr sz="2400" b="1" spc="75" dirty="0">
                <a:latin typeface="Cambria"/>
                <a:cs typeface="Cambria"/>
              </a:rPr>
              <a:t>direction</a:t>
            </a:r>
            <a:r>
              <a:rPr sz="2400" b="1" spc="3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fill-</a:t>
            </a:r>
            <a:r>
              <a:rPr sz="2400" b="1" spc="45" dirty="0">
                <a:latin typeface="Cambria"/>
                <a:cs typeface="Cambria"/>
              </a:rPr>
              <a:t>mode)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5"/>
              </a:lnSpc>
              <a:buFont typeface="Wingdings"/>
              <a:buChar char=""/>
              <a:tabLst>
                <a:tab pos="354965" algn="l"/>
                <a:tab pos="2713355" algn="l"/>
                <a:tab pos="3423920" algn="l"/>
                <a:tab pos="5212080" algn="l"/>
                <a:tab pos="6196965" algn="l"/>
                <a:tab pos="8555355" algn="l"/>
                <a:tab pos="9981565" algn="l"/>
              </a:tabLst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animation:</a:t>
            </a:r>
            <a:r>
              <a:rPr sz="2400" spc="22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abc</a:t>
            </a:r>
            <a:r>
              <a:rPr sz="2400" dirty="0">
                <a:solidFill>
                  <a:srgbClr val="E40000"/>
                </a:solidFill>
                <a:latin typeface="Cambria"/>
                <a:cs typeface="Cambria"/>
              </a:rPr>
              <a:t>	</a:t>
            </a: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12s</a:t>
            </a:r>
            <a:r>
              <a:rPr sz="2400" dirty="0">
                <a:solidFill>
                  <a:srgbClr val="E40000"/>
                </a:solidFill>
                <a:latin typeface="Cambria"/>
                <a:cs typeface="Cambria"/>
              </a:rPr>
              <a:t>	</a:t>
            </a:r>
            <a:r>
              <a:rPr sz="2400" spc="75" dirty="0">
                <a:solidFill>
                  <a:srgbClr val="E40000"/>
                </a:solidFill>
                <a:latin typeface="Cambria"/>
                <a:cs typeface="Cambria"/>
              </a:rPr>
              <a:t>ease-</a:t>
            </a: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out</a:t>
            </a:r>
            <a:r>
              <a:rPr sz="2400" dirty="0">
                <a:solidFill>
                  <a:srgbClr val="E40000"/>
                </a:solidFill>
                <a:latin typeface="Cambria"/>
                <a:cs typeface="Cambria"/>
              </a:rPr>
              <a:t>	</a:t>
            </a: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1s</a:t>
            </a:r>
            <a:r>
              <a:rPr sz="2400" dirty="0">
                <a:solidFill>
                  <a:srgbClr val="E40000"/>
                </a:solidFill>
                <a:latin typeface="Cambria"/>
                <a:cs typeface="Cambria"/>
              </a:rPr>
              <a:t>	</a:t>
            </a: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infinite</a:t>
            </a:r>
            <a:r>
              <a:rPr sz="2400" dirty="0">
                <a:solidFill>
                  <a:srgbClr val="E40000"/>
                </a:solidFill>
                <a:latin typeface="Cambria"/>
                <a:cs typeface="Cambria"/>
              </a:rPr>
              <a:t>	</a:t>
            </a: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normal</a:t>
            </a:r>
            <a:r>
              <a:rPr sz="2400" dirty="0">
                <a:solidFill>
                  <a:srgbClr val="E40000"/>
                </a:solidFill>
                <a:latin typeface="Cambria"/>
                <a:cs typeface="Cambria"/>
              </a:rPr>
              <a:t>	</a:t>
            </a: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forwards;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85" dirty="0">
                <a:latin typeface="Cambria"/>
                <a:cs typeface="Cambria"/>
              </a:rPr>
              <a:t>Note:</a:t>
            </a:r>
            <a:r>
              <a:rPr sz="2400" b="1" spc="250" dirty="0">
                <a:latin typeface="Cambria"/>
                <a:cs typeface="Cambria"/>
              </a:rPr>
              <a:t> </a:t>
            </a:r>
            <a:r>
              <a:rPr sz="2400" b="1" spc="60" dirty="0">
                <a:latin typeface="Cambria"/>
                <a:cs typeface="Cambria"/>
              </a:rPr>
              <a:t>animation-</a:t>
            </a:r>
            <a:r>
              <a:rPr sz="2400" b="1" dirty="0">
                <a:latin typeface="Cambria"/>
                <a:cs typeface="Cambria"/>
              </a:rPr>
              <a:t>fill-</a:t>
            </a:r>
            <a:r>
              <a:rPr sz="2400" b="1" spc="114" dirty="0">
                <a:latin typeface="Cambria"/>
                <a:cs typeface="Cambria"/>
              </a:rPr>
              <a:t>mode</a:t>
            </a:r>
            <a:r>
              <a:rPr sz="2400" b="1" spc="235" dirty="0">
                <a:latin typeface="Cambria"/>
                <a:cs typeface="Cambria"/>
              </a:rPr>
              <a:t> </a:t>
            </a:r>
            <a:r>
              <a:rPr sz="2400" b="1" spc="105" dirty="0">
                <a:latin typeface="Cambria"/>
                <a:cs typeface="Cambria"/>
              </a:rPr>
              <a:t>works</a:t>
            </a:r>
            <a:r>
              <a:rPr sz="2400" b="1" spc="30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only</a:t>
            </a:r>
            <a:r>
              <a:rPr sz="2400" b="1" spc="250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when</a:t>
            </a:r>
            <a:r>
              <a:rPr sz="2400" b="1" spc="250" dirty="0">
                <a:latin typeface="Cambria"/>
                <a:cs typeface="Cambria"/>
              </a:rPr>
              <a:t> </a:t>
            </a:r>
            <a:r>
              <a:rPr sz="2400" b="1" spc="70" dirty="0">
                <a:latin typeface="Cambria"/>
                <a:cs typeface="Cambria"/>
              </a:rPr>
              <a:t>limited</a:t>
            </a:r>
            <a:r>
              <a:rPr sz="2400" b="1" spc="225" dirty="0">
                <a:latin typeface="Cambria"/>
                <a:cs typeface="Cambria"/>
              </a:rPr>
              <a:t> </a:t>
            </a:r>
            <a:r>
              <a:rPr sz="2400" b="1" spc="50" dirty="0">
                <a:latin typeface="Cambria"/>
                <a:cs typeface="Cambria"/>
              </a:rPr>
              <a:t>iteration</a:t>
            </a:r>
            <a:r>
              <a:rPr sz="2400" b="1" spc="265" dirty="0">
                <a:latin typeface="Cambria"/>
                <a:cs typeface="Cambria"/>
              </a:rPr>
              <a:t> </a:t>
            </a:r>
            <a:r>
              <a:rPr sz="2400" b="1" spc="95" dirty="0">
                <a:latin typeface="Cambria"/>
                <a:cs typeface="Cambria"/>
              </a:rPr>
              <a:t>count.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175" dirty="0"/>
              <a:t> </a:t>
            </a:r>
            <a:r>
              <a:rPr spc="-40" dirty="0"/>
              <a:t>Properties:</a:t>
            </a:r>
            <a:r>
              <a:rPr spc="-65" dirty="0"/>
              <a:t> </a:t>
            </a:r>
            <a:r>
              <a:rPr spc="-10" dirty="0"/>
              <a:t>Animation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0006" y="736168"/>
            <a:ext cx="444246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120" dirty="0">
                <a:latin typeface="Cambria"/>
                <a:cs typeface="Cambria"/>
              </a:rPr>
              <a:t>Keyframes</a:t>
            </a:r>
            <a:r>
              <a:rPr sz="2400" b="1" spc="200" dirty="0">
                <a:latin typeface="Cambria"/>
                <a:cs typeface="Cambria"/>
              </a:rPr>
              <a:t> </a:t>
            </a:r>
            <a:r>
              <a:rPr sz="2400" b="1" spc="105" dirty="0">
                <a:latin typeface="Cambria"/>
                <a:cs typeface="Cambria"/>
              </a:rPr>
              <a:t>Methods</a:t>
            </a:r>
            <a:endParaRPr sz="2400">
              <a:latin typeface="Cambria"/>
              <a:cs typeface="Cambria"/>
            </a:endParaRPr>
          </a:p>
          <a:p>
            <a:pPr marL="749935">
              <a:lnSpc>
                <a:spcPts val="2875"/>
              </a:lnSpc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@keyframes</a:t>
            </a:r>
            <a:r>
              <a:rPr sz="2400" spc="254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E40000"/>
                </a:solidFill>
                <a:latin typeface="Cambria"/>
                <a:cs typeface="Cambria"/>
              </a:rPr>
              <a:t>identifier</a:t>
            </a:r>
            <a:endParaRPr sz="2400">
              <a:latin typeface="Cambria"/>
              <a:cs typeface="Cambria"/>
            </a:endParaRPr>
          </a:p>
          <a:p>
            <a:pPr marL="926465">
              <a:lnSpc>
                <a:spcPct val="100000"/>
              </a:lnSpc>
            </a:pPr>
            <a:r>
              <a:rPr sz="2400" b="1" spc="-50" dirty="0">
                <a:solidFill>
                  <a:srgbClr val="0451A4"/>
                </a:solidFill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1118870">
              <a:lnSpc>
                <a:spcPct val="100000"/>
              </a:lnSpc>
            </a:pPr>
            <a:r>
              <a:rPr sz="2400" spc="175" dirty="0">
                <a:solidFill>
                  <a:srgbClr val="E40000"/>
                </a:solidFill>
                <a:latin typeface="Cambria"/>
                <a:cs typeface="Cambria"/>
              </a:rPr>
              <a:t>from</a:t>
            </a:r>
            <a:r>
              <a:rPr sz="2400" spc="22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b="1" spc="-50" dirty="0">
                <a:solidFill>
                  <a:srgbClr val="00AF50"/>
                </a:solidFill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2210435">
              <a:lnSpc>
                <a:spcPct val="100000"/>
              </a:lnSpc>
            </a:pPr>
            <a:r>
              <a:rPr sz="2400" spc="165" dirty="0">
                <a:solidFill>
                  <a:srgbClr val="E40000"/>
                </a:solidFill>
                <a:latin typeface="Cambria"/>
                <a:cs typeface="Cambria"/>
              </a:rPr>
              <a:t>CSS</a:t>
            </a:r>
            <a:r>
              <a:rPr sz="2400" spc="204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Properties.</a:t>
            </a:r>
            <a:endParaRPr sz="2400">
              <a:latin typeface="Cambria"/>
              <a:cs typeface="Cambria"/>
            </a:endParaRPr>
          </a:p>
          <a:p>
            <a:pPr marL="1932939">
              <a:lnSpc>
                <a:spcPct val="100000"/>
              </a:lnSpc>
              <a:spcBef>
                <a:spcPts val="5"/>
              </a:spcBef>
            </a:pPr>
            <a:r>
              <a:rPr sz="2400" b="1" spc="-50" dirty="0">
                <a:solidFill>
                  <a:srgbClr val="00AF50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  <a:p>
            <a:pPr marL="1118870">
              <a:lnSpc>
                <a:spcPct val="100000"/>
              </a:lnSpc>
            </a:pPr>
            <a:r>
              <a:rPr sz="2400" spc="120" dirty="0">
                <a:solidFill>
                  <a:srgbClr val="E40000"/>
                </a:solidFill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marL="1849120">
              <a:lnSpc>
                <a:spcPct val="100000"/>
              </a:lnSpc>
            </a:pPr>
            <a:r>
              <a:rPr sz="2400" b="1" spc="-50" dirty="0">
                <a:solidFill>
                  <a:srgbClr val="00AF50"/>
                </a:solidFill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2210435">
              <a:lnSpc>
                <a:spcPct val="100000"/>
              </a:lnSpc>
            </a:pPr>
            <a:r>
              <a:rPr sz="2400" spc="165" dirty="0">
                <a:solidFill>
                  <a:srgbClr val="E40000"/>
                </a:solidFill>
                <a:latin typeface="Cambria"/>
                <a:cs typeface="Cambria"/>
              </a:rPr>
              <a:t>CSS</a:t>
            </a:r>
            <a:r>
              <a:rPr sz="2400" spc="204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Properties.</a:t>
            </a:r>
            <a:endParaRPr sz="2400">
              <a:latin typeface="Cambria"/>
              <a:cs typeface="Cambria"/>
            </a:endParaRPr>
          </a:p>
          <a:p>
            <a:pPr marL="1762125">
              <a:lnSpc>
                <a:spcPct val="100000"/>
              </a:lnSpc>
            </a:pPr>
            <a:r>
              <a:rPr sz="2400" b="1" spc="-50" dirty="0">
                <a:solidFill>
                  <a:srgbClr val="00AF50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  <a:p>
            <a:pPr marL="1116965">
              <a:lnSpc>
                <a:spcPct val="100000"/>
              </a:lnSpc>
              <a:spcBef>
                <a:spcPts val="10"/>
              </a:spcBef>
            </a:pPr>
            <a:r>
              <a:rPr sz="2400" b="1" spc="-50" dirty="0">
                <a:solidFill>
                  <a:srgbClr val="0451A4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1605" algn="ctr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@keyframes</a:t>
            </a:r>
            <a:r>
              <a:rPr spc="265" dirty="0"/>
              <a:t> </a:t>
            </a:r>
            <a:r>
              <a:rPr spc="105" dirty="0"/>
              <a:t>identifier</a:t>
            </a:r>
          </a:p>
          <a:p>
            <a:pPr marR="2742565" algn="ctr">
              <a:lnSpc>
                <a:spcPct val="100000"/>
              </a:lnSpc>
            </a:pPr>
            <a:r>
              <a:rPr b="1" spc="-50" dirty="0">
                <a:solidFill>
                  <a:srgbClr val="0451A4"/>
                </a:solidFill>
                <a:latin typeface="Cambria"/>
                <a:cs typeface="Cambria"/>
              </a:rPr>
              <a:t>{</a:t>
            </a:r>
          </a:p>
          <a:p>
            <a:pPr marR="1890395" algn="ctr">
              <a:lnSpc>
                <a:spcPct val="100000"/>
              </a:lnSpc>
            </a:pPr>
            <a:r>
              <a:rPr spc="-90" dirty="0"/>
              <a:t>0%</a:t>
            </a:r>
            <a:r>
              <a:rPr spc="-45" dirty="0"/>
              <a:t> </a:t>
            </a:r>
            <a:r>
              <a:rPr b="1" spc="-50" dirty="0">
                <a:solidFill>
                  <a:srgbClr val="00AF50"/>
                </a:solidFill>
                <a:latin typeface="Cambria"/>
                <a:cs typeface="Cambria"/>
              </a:rPr>
              <a:t>{</a:t>
            </a:r>
          </a:p>
          <a:p>
            <a:pPr marL="1185545" algn="ctr">
              <a:lnSpc>
                <a:spcPct val="100000"/>
              </a:lnSpc>
            </a:pPr>
            <a:r>
              <a:rPr spc="165" dirty="0"/>
              <a:t>CSS</a:t>
            </a:r>
            <a:r>
              <a:rPr spc="204" dirty="0"/>
              <a:t> </a:t>
            </a:r>
            <a:r>
              <a:rPr spc="90" dirty="0"/>
              <a:t>Properties.</a:t>
            </a:r>
          </a:p>
          <a:p>
            <a:pPr marR="1452880" algn="ctr">
              <a:lnSpc>
                <a:spcPct val="100000"/>
              </a:lnSpc>
            </a:pPr>
            <a:r>
              <a:rPr b="1" spc="-50" dirty="0">
                <a:solidFill>
                  <a:srgbClr val="00AF50"/>
                </a:solidFill>
                <a:latin typeface="Cambria"/>
                <a:cs typeface="Cambria"/>
              </a:rPr>
              <a:t>}</a:t>
            </a:r>
          </a:p>
          <a:p>
            <a:pPr marR="1720850" algn="ctr">
              <a:lnSpc>
                <a:spcPct val="100000"/>
              </a:lnSpc>
            </a:pPr>
            <a:r>
              <a:rPr spc="-20" dirty="0"/>
              <a:t>100%</a:t>
            </a:r>
          </a:p>
          <a:p>
            <a:pPr marR="1651635" algn="ctr">
              <a:lnSpc>
                <a:spcPct val="100000"/>
              </a:lnSpc>
            </a:pPr>
            <a:r>
              <a:rPr b="1" spc="-50" dirty="0">
                <a:solidFill>
                  <a:srgbClr val="00AF50"/>
                </a:solidFill>
                <a:latin typeface="Cambria"/>
                <a:cs typeface="Cambria"/>
              </a:rPr>
              <a:t>{</a:t>
            </a:r>
          </a:p>
          <a:p>
            <a:pPr marL="1197610" algn="ctr">
              <a:lnSpc>
                <a:spcPct val="100000"/>
              </a:lnSpc>
            </a:pPr>
            <a:r>
              <a:rPr spc="165" dirty="0"/>
              <a:t>CSS</a:t>
            </a:r>
            <a:r>
              <a:rPr spc="220" dirty="0"/>
              <a:t> </a:t>
            </a:r>
            <a:r>
              <a:rPr spc="85" dirty="0"/>
              <a:t>Properties.</a:t>
            </a:r>
          </a:p>
          <a:p>
            <a:pPr marR="1651635" algn="ctr">
              <a:lnSpc>
                <a:spcPct val="100000"/>
              </a:lnSpc>
            </a:pPr>
            <a:r>
              <a:rPr b="1" spc="-50" dirty="0">
                <a:solidFill>
                  <a:srgbClr val="00AF50"/>
                </a:solidFill>
                <a:latin typeface="Cambria"/>
                <a:cs typeface="Cambria"/>
              </a:rPr>
              <a:t>}</a:t>
            </a:r>
          </a:p>
          <a:p>
            <a:pPr marR="2910205" algn="ctr">
              <a:lnSpc>
                <a:spcPct val="100000"/>
              </a:lnSpc>
              <a:spcBef>
                <a:spcPts val="15"/>
              </a:spcBef>
            </a:pPr>
            <a:r>
              <a:rPr b="1" spc="-50" dirty="0">
                <a:solidFill>
                  <a:srgbClr val="0451A4"/>
                </a:solidFill>
                <a:latin typeface="Cambria"/>
                <a:cs typeface="Cambria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44" y="25095"/>
            <a:ext cx="6361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65" dirty="0"/>
              <a:t> </a:t>
            </a:r>
            <a:r>
              <a:rPr spc="-20" dirty="0"/>
              <a:t>Properties:</a:t>
            </a:r>
            <a:r>
              <a:rPr spc="50" dirty="0"/>
              <a:t> </a:t>
            </a:r>
            <a:r>
              <a:rPr spc="-20" dirty="0"/>
              <a:t>Transform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1056576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transform:</a:t>
            </a:r>
            <a:r>
              <a:rPr sz="2400" spc="27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rotateX(80deg);</a:t>
            </a:r>
            <a:r>
              <a:rPr sz="2400" spc="25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rotateY(180deg);</a:t>
            </a:r>
            <a:r>
              <a:rPr sz="2400" spc="27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rotateZ(270deg);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transform:</a:t>
            </a:r>
            <a:r>
              <a:rPr sz="2400" spc="28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scaleX(1.5);</a:t>
            </a:r>
            <a:r>
              <a:rPr sz="2400" spc="26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451A4"/>
                </a:solidFill>
                <a:latin typeface="Cambria"/>
                <a:cs typeface="Cambria"/>
              </a:rPr>
              <a:t>scaleY(2);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451A4"/>
                </a:solidFill>
                <a:latin typeface="Cambria"/>
                <a:cs typeface="Cambria"/>
              </a:rPr>
              <a:t>scale(2.5);</a:t>
            </a:r>
            <a:endParaRPr sz="2400">
              <a:latin typeface="Cambria"/>
              <a:cs typeface="Cambria"/>
            </a:endParaRPr>
          </a:p>
          <a:p>
            <a:pPr marL="354330" marR="2531745" indent="-342265">
              <a:lnSpc>
                <a:spcPct val="100000"/>
              </a:lnSpc>
              <a:buFont typeface="Wingdings"/>
              <a:buChar char=""/>
              <a:tabLst>
                <a:tab pos="2025650" algn="l"/>
              </a:tabLst>
            </a:pP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transform:</a:t>
            </a:r>
            <a:r>
              <a:rPr sz="2400" spc="31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translateX(250px);</a:t>
            </a:r>
            <a:r>
              <a:rPr sz="2400" spc="30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translateY(-</a:t>
            </a:r>
            <a:r>
              <a:rPr sz="2400" spc="65" dirty="0">
                <a:solidFill>
                  <a:srgbClr val="0451A4"/>
                </a:solidFill>
                <a:latin typeface="Cambria"/>
                <a:cs typeface="Cambria"/>
              </a:rPr>
              <a:t>180px); 	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translate(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30px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0451A4"/>
                </a:solidFill>
                <a:latin typeface="Cambria"/>
                <a:cs typeface="Cambria"/>
              </a:rPr>
              <a:t>,0px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0451A4"/>
                </a:solidFill>
                <a:latin typeface="Cambria"/>
                <a:cs typeface="Cambria"/>
              </a:rPr>
              <a:t>);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transform:</a:t>
            </a:r>
            <a:r>
              <a:rPr sz="2400" spc="28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451A4"/>
                </a:solidFill>
                <a:latin typeface="Cambria"/>
                <a:cs typeface="Cambria"/>
              </a:rPr>
              <a:t>skewX(-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30deg);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451A4"/>
                </a:solidFill>
                <a:latin typeface="Cambria"/>
                <a:cs typeface="Cambria"/>
              </a:rPr>
              <a:t>skewY(-</a:t>
            </a:r>
            <a:r>
              <a:rPr sz="2400" spc="70" dirty="0">
                <a:solidFill>
                  <a:srgbClr val="0451A4"/>
                </a:solidFill>
                <a:latin typeface="Cambria"/>
                <a:cs typeface="Cambria"/>
              </a:rPr>
              <a:t>45deg);</a:t>
            </a:r>
            <a:r>
              <a:rPr sz="2400" spc="28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skew(20deg</a:t>
            </a:r>
            <a:r>
              <a:rPr sz="2400" spc="24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451A4"/>
                </a:solidFill>
                <a:latin typeface="Cambria"/>
                <a:cs typeface="Cambria"/>
              </a:rPr>
              <a:t>,</a:t>
            </a:r>
            <a:r>
              <a:rPr sz="2400" spc="204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451A4"/>
                </a:solidFill>
                <a:latin typeface="Cambria"/>
                <a:cs typeface="Cambria"/>
              </a:rPr>
              <a:t>45deg);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E4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875"/>
              </a:lnSpc>
            </a:pPr>
            <a:r>
              <a:rPr sz="2400" b="1" spc="80" dirty="0">
                <a:latin typeface="Cambria"/>
                <a:cs typeface="Cambria"/>
              </a:rPr>
              <a:t>Multiple</a:t>
            </a:r>
            <a:r>
              <a:rPr sz="2400" b="1" spc="195" dirty="0">
                <a:latin typeface="Cambria"/>
                <a:cs typeface="Cambria"/>
              </a:rPr>
              <a:t> </a:t>
            </a:r>
            <a:r>
              <a:rPr sz="2400" b="1" spc="95" dirty="0">
                <a:latin typeface="Cambria"/>
                <a:cs typeface="Cambria"/>
              </a:rPr>
              <a:t>Transform</a:t>
            </a:r>
            <a:endParaRPr sz="2400">
              <a:latin typeface="Cambria"/>
              <a:cs typeface="Cambria"/>
            </a:endParaRPr>
          </a:p>
          <a:p>
            <a:pPr marL="354330" marR="1788795" indent="-342265">
              <a:lnSpc>
                <a:spcPts val="2880"/>
              </a:lnSpc>
              <a:spcBef>
                <a:spcPts val="90"/>
              </a:spcBef>
              <a:buFont typeface="Wingdings"/>
              <a:buChar char=""/>
              <a:tabLst>
                <a:tab pos="2025650" algn="l"/>
              </a:tabLst>
            </a:pPr>
            <a:r>
              <a:rPr sz="2400" spc="125" dirty="0">
                <a:solidFill>
                  <a:srgbClr val="E40000"/>
                </a:solidFill>
                <a:latin typeface="Cambria"/>
                <a:cs typeface="Cambria"/>
              </a:rPr>
              <a:t>transform:</a:t>
            </a:r>
            <a:r>
              <a:rPr sz="2400" spc="27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451A4"/>
                </a:solidFill>
                <a:latin typeface="Cambria"/>
                <a:cs typeface="Cambria"/>
              </a:rPr>
              <a:t>rotateX(80deg)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451A4"/>
                </a:solidFill>
                <a:latin typeface="Cambria"/>
                <a:cs typeface="Cambria"/>
              </a:rPr>
              <a:t>scale(2.5)</a:t>
            </a:r>
            <a:r>
              <a:rPr sz="2400" spc="27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skew(20deg</a:t>
            </a:r>
            <a:r>
              <a:rPr sz="2400" spc="229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0451A4"/>
                </a:solidFill>
                <a:latin typeface="Cambria"/>
                <a:cs typeface="Cambria"/>
              </a:rPr>
              <a:t>,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451A4"/>
                </a:solidFill>
                <a:latin typeface="Cambria"/>
                <a:cs typeface="Cambria"/>
              </a:rPr>
              <a:t>45deg) 	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translate(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30px</a:t>
            </a:r>
            <a:r>
              <a:rPr sz="2400" spc="24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0451A4"/>
                </a:solidFill>
                <a:latin typeface="Cambria"/>
                <a:cs typeface="Cambria"/>
              </a:rPr>
              <a:t>,0px</a:t>
            </a:r>
            <a:r>
              <a:rPr sz="2400" spc="23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0451A4"/>
                </a:solidFill>
                <a:latin typeface="Cambria"/>
                <a:cs typeface="Cambria"/>
              </a:rPr>
              <a:t>);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68734" cy="10340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0" dirty="0"/>
              <a:t>CSS</a:t>
            </a:r>
            <a:r>
              <a:rPr spc="85" dirty="0"/>
              <a:t> </a:t>
            </a:r>
            <a:r>
              <a:rPr spc="-20" dirty="0"/>
              <a:t>Properties:</a:t>
            </a:r>
            <a:r>
              <a:rPr spc="65" dirty="0"/>
              <a:t> </a:t>
            </a:r>
            <a:r>
              <a:rPr dirty="0"/>
              <a:t>Position</a:t>
            </a:r>
            <a:r>
              <a:rPr spc="80" dirty="0"/>
              <a:t> </a:t>
            </a:r>
            <a:r>
              <a:rPr spc="265" dirty="0"/>
              <a:t>&amp;</a:t>
            </a:r>
            <a:r>
              <a:rPr spc="90" dirty="0"/>
              <a:t> </a:t>
            </a:r>
            <a:r>
              <a:rPr spc="-65" dirty="0"/>
              <a:t>scroll-</a:t>
            </a:r>
            <a:r>
              <a:rPr spc="-10" dirty="0"/>
              <a:t>behavior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006" y="734644"/>
            <a:ext cx="8943975" cy="331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114" dirty="0">
                <a:solidFill>
                  <a:srgbClr val="E40000"/>
                </a:solidFill>
                <a:latin typeface="Cambria"/>
                <a:cs typeface="Cambria"/>
              </a:rPr>
              <a:t>position:</a:t>
            </a:r>
            <a:r>
              <a:rPr sz="2400" spc="254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static;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451A4"/>
                </a:solidFill>
                <a:latin typeface="Cambria"/>
                <a:cs typeface="Cambria"/>
              </a:rPr>
              <a:t>absolute;</a:t>
            </a:r>
            <a:r>
              <a:rPr sz="2400" spc="22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451A4"/>
                </a:solidFill>
                <a:latin typeface="Cambria"/>
                <a:cs typeface="Cambria"/>
              </a:rPr>
              <a:t>fixed;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451A4"/>
                </a:solidFill>
                <a:latin typeface="Cambria"/>
                <a:cs typeface="Cambria"/>
              </a:rPr>
              <a:t>relative;</a:t>
            </a:r>
            <a:r>
              <a:rPr sz="2400" spc="210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451A4"/>
                </a:solidFill>
                <a:latin typeface="Cambria"/>
                <a:cs typeface="Cambria"/>
              </a:rPr>
              <a:t>sticky;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E40000"/>
              </a:buClr>
              <a:buFont typeface="Wingdings"/>
              <a:buChar char=""/>
            </a:pP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E40000"/>
                </a:solidFill>
                <a:latin typeface="Cambria"/>
                <a:cs typeface="Cambria"/>
              </a:rPr>
              <a:t>top:</a:t>
            </a:r>
            <a:r>
              <a:rPr sz="2400" spc="26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50px;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30" dirty="0">
                <a:solidFill>
                  <a:srgbClr val="E40000"/>
                </a:solidFill>
                <a:latin typeface="Cambria"/>
                <a:cs typeface="Cambria"/>
              </a:rPr>
              <a:t>bottom:</a:t>
            </a:r>
            <a:r>
              <a:rPr sz="2400" spc="254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120px;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05" dirty="0">
                <a:solidFill>
                  <a:srgbClr val="E40000"/>
                </a:solidFill>
                <a:latin typeface="Cambria"/>
                <a:cs typeface="Cambria"/>
              </a:rPr>
              <a:t>left:</a:t>
            </a:r>
            <a:r>
              <a:rPr sz="2400" spc="22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451A4"/>
                </a:solidFill>
                <a:latin typeface="Cambria"/>
                <a:cs typeface="Cambria"/>
              </a:rPr>
              <a:t>80px;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95" dirty="0">
                <a:solidFill>
                  <a:srgbClr val="E40000"/>
                </a:solidFill>
                <a:latin typeface="Cambria"/>
                <a:cs typeface="Cambria"/>
              </a:rPr>
              <a:t>right:</a:t>
            </a:r>
            <a:r>
              <a:rPr sz="2400" spc="20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451A4"/>
                </a:solidFill>
                <a:latin typeface="Cambria"/>
                <a:cs typeface="Cambria"/>
              </a:rPr>
              <a:t>200px;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140" dirty="0">
                <a:solidFill>
                  <a:srgbClr val="E40000"/>
                </a:solidFill>
                <a:latin typeface="Cambria"/>
                <a:cs typeface="Cambria"/>
              </a:rPr>
              <a:t>z-</a:t>
            </a:r>
            <a:r>
              <a:rPr sz="2400" spc="110" dirty="0">
                <a:solidFill>
                  <a:srgbClr val="E40000"/>
                </a:solidFill>
                <a:latin typeface="Cambria"/>
                <a:cs typeface="Cambria"/>
              </a:rPr>
              <a:t>index:</a:t>
            </a:r>
            <a:r>
              <a:rPr sz="2400" spc="21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451A4"/>
                </a:solidFill>
                <a:latin typeface="Cambria"/>
                <a:cs typeface="Cambria"/>
              </a:rPr>
              <a:t>2;</a:t>
            </a:r>
            <a:r>
              <a:rPr sz="2400" spc="21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E40000"/>
                </a:solidFill>
                <a:latin typeface="Cambria"/>
                <a:cs typeface="Cambria"/>
              </a:rPr>
              <a:t>or</a:t>
            </a:r>
            <a:r>
              <a:rPr sz="2400" spc="210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-55" dirty="0">
                <a:solidFill>
                  <a:srgbClr val="0451A4"/>
                </a:solidFill>
                <a:latin typeface="Cambria"/>
                <a:cs typeface="Cambria"/>
              </a:rPr>
              <a:t>-</a:t>
            </a:r>
            <a:r>
              <a:rPr sz="2400" spc="30" dirty="0">
                <a:solidFill>
                  <a:srgbClr val="0451A4"/>
                </a:solidFill>
                <a:latin typeface="Cambria"/>
                <a:cs typeface="Cambria"/>
              </a:rPr>
              <a:t>3;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spc="90" dirty="0">
                <a:latin typeface="Cambria"/>
                <a:cs typeface="Cambria"/>
              </a:rPr>
              <a:t>Note:</a:t>
            </a:r>
            <a:r>
              <a:rPr sz="2400" b="1" spc="235" dirty="0">
                <a:latin typeface="Cambria"/>
                <a:cs typeface="Cambria"/>
              </a:rPr>
              <a:t> </a:t>
            </a:r>
            <a:r>
              <a:rPr sz="2400" b="1" spc="90" dirty="0">
                <a:latin typeface="Cambria"/>
                <a:cs typeface="Cambria"/>
              </a:rPr>
              <a:t>Directions</a:t>
            </a:r>
            <a:r>
              <a:rPr sz="2400" b="1" spc="25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are</a:t>
            </a:r>
            <a:r>
              <a:rPr sz="2400" b="1" spc="235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used</a:t>
            </a:r>
            <a:r>
              <a:rPr sz="2400" b="1" spc="265" dirty="0">
                <a:latin typeface="Cambria"/>
                <a:cs typeface="Cambria"/>
              </a:rPr>
              <a:t> </a:t>
            </a:r>
            <a:r>
              <a:rPr sz="2400" b="1" spc="100" dirty="0">
                <a:latin typeface="Cambria"/>
                <a:cs typeface="Cambria"/>
              </a:rPr>
              <a:t>with</a:t>
            </a:r>
            <a:r>
              <a:rPr sz="2400" b="1" spc="240" dirty="0">
                <a:latin typeface="Cambria"/>
                <a:cs typeface="Cambria"/>
              </a:rPr>
              <a:t> </a:t>
            </a:r>
            <a:r>
              <a:rPr sz="2400" b="1" spc="75" dirty="0">
                <a:latin typeface="Cambria"/>
                <a:cs typeface="Cambria"/>
              </a:rPr>
              <a:t>position</a:t>
            </a:r>
            <a:r>
              <a:rPr sz="2400" b="1" spc="75" dirty="0">
                <a:solidFill>
                  <a:srgbClr val="0451A4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006" y="5125339"/>
            <a:ext cx="518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90" dirty="0">
                <a:solidFill>
                  <a:srgbClr val="E40000"/>
                </a:solidFill>
                <a:latin typeface="Cambria"/>
                <a:cs typeface="Cambria"/>
              </a:rPr>
              <a:t>scroll-</a:t>
            </a:r>
            <a:r>
              <a:rPr sz="2400" spc="95" dirty="0">
                <a:solidFill>
                  <a:srgbClr val="E40000"/>
                </a:solidFill>
                <a:latin typeface="Cambria"/>
                <a:cs typeface="Cambria"/>
              </a:rPr>
              <a:t>behavior:</a:t>
            </a:r>
            <a:r>
              <a:rPr sz="2400" spc="275" dirty="0">
                <a:solidFill>
                  <a:srgbClr val="E4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451A4"/>
                </a:solidFill>
                <a:latin typeface="Cambria"/>
                <a:cs typeface="Cambria"/>
              </a:rPr>
              <a:t>auto;</a:t>
            </a:r>
            <a:r>
              <a:rPr sz="2400" spc="225" dirty="0">
                <a:solidFill>
                  <a:srgbClr val="0451A4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451A4"/>
                </a:solidFill>
                <a:latin typeface="Cambria"/>
                <a:cs typeface="Cambria"/>
              </a:rPr>
              <a:t>smooth;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</TotalTime>
  <Words>3230</Words>
  <Application>Microsoft Office PowerPoint</Application>
  <PresentationFormat>Widescreen</PresentationFormat>
  <Paragraphs>518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 MT</vt:lpstr>
      <vt:lpstr>Cambria</vt:lpstr>
      <vt:lpstr>Consolas</vt:lpstr>
      <vt:lpstr>Forte</vt:lpstr>
      <vt:lpstr>Times New Roman</vt:lpstr>
      <vt:lpstr>Wingdings</vt:lpstr>
      <vt:lpstr>Office Theme</vt:lpstr>
      <vt:lpstr>Welcome</vt:lpstr>
      <vt:lpstr>PowerPoint Presentation</vt:lpstr>
      <vt:lpstr>Client &amp; Server:</vt:lpstr>
      <vt:lpstr>HTML Tags: Types of Tag &amp; Structure HTML5: hypertext markup language Version-5</vt:lpstr>
      <vt:lpstr>HTML Tags: Heading Tags text, line by line, bold, different sizes,</vt:lpstr>
      <vt:lpstr>HTML Tags: Paragraph &amp; Alignment Tags</vt:lpstr>
      <vt:lpstr>HTML Tags: Text Formatting Tags</vt:lpstr>
      <vt:lpstr>HTML Tags: Font Tag &amp; Background</vt:lpstr>
      <vt:lpstr>HTML Tags: Links Tag</vt:lpstr>
      <vt:lpstr>HTML Tags: Media Tag</vt:lpstr>
      <vt:lpstr>HTML Tags: Marquee &amp; Favicon Tag</vt:lpstr>
      <vt:lpstr>HTML Tags: Tables Tag</vt:lpstr>
      <vt:lpstr>HTML Tags: List &amp; Description Tag</vt:lpstr>
      <vt:lpstr>HTML Tags: Block, Inline &amp; QuotationTag</vt:lpstr>
      <vt:lpstr>HTML Tags: Input &amp; Forms Tag</vt:lpstr>
      <vt:lpstr>HTML Tags: Input &amp; Forms Tag</vt:lpstr>
      <vt:lpstr>Welcome</vt:lpstr>
      <vt:lpstr>CSS: Introduction</vt:lpstr>
      <vt:lpstr>CSS: Applying Methods &amp; Selectors</vt:lpstr>
      <vt:lpstr>CSS Properties: Color Modes</vt:lpstr>
      <vt:lpstr>CSS Properties: Border</vt:lpstr>
      <vt:lpstr>CSS Properties: Outline</vt:lpstr>
      <vt:lpstr>CSS Properties: Padding &amp; Margin</vt:lpstr>
      <vt:lpstr>CSS Properties: Height, Width &amp; Box-Sizing</vt:lpstr>
      <vt:lpstr>CSS Properties: Overflow &amp; Border-Radius</vt:lpstr>
      <vt:lpstr>CSS Properties: Box-Shadow &amp; Float &amp; Clear</vt:lpstr>
      <vt:lpstr>CSS Properties: Font &amp; Scrollbar</vt:lpstr>
      <vt:lpstr>CSS Properties: Text Formatting &amp; Decoration</vt:lpstr>
      <vt:lpstr>CSS Properties: Text-shadow &amp; Column-Count</vt:lpstr>
      <vt:lpstr>CSS Properties: List-Style</vt:lpstr>
      <vt:lpstr>CSS Properties: Background</vt:lpstr>
      <vt:lpstr>CSS Properties: Linear-Gradient</vt:lpstr>
      <vt:lpstr>CSS Properties: Radial-Gradient</vt:lpstr>
      <vt:lpstr>CSS Properties: Opacity &amp; Pseudo Classes</vt:lpstr>
      <vt:lpstr>CSS Properties: Display</vt:lpstr>
      <vt:lpstr>CSS Properties: Filter</vt:lpstr>
      <vt:lpstr>CSS Properties: Transition</vt:lpstr>
      <vt:lpstr>CSS Properties: Animation</vt:lpstr>
      <vt:lpstr>CSS Properties: Animation</vt:lpstr>
      <vt:lpstr>CSS Properties: Transform</vt:lpstr>
      <vt:lpstr>CSS Properties: Position &amp; scroll-behavior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sunil vishwkarma</dc:creator>
  <cp:lastModifiedBy>Ruchi Jain</cp:lastModifiedBy>
  <cp:revision>3</cp:revision>
  <dcterms:created xsi:type="dcterms:W3CDTF">2026-02-11T05:26:05Z</dcterms:created>
  <dcterms:modified xsi:type="dcterms:W3CDTF">2026-04-09T07:30:37Z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2026-02-11T00:00:00Z</vt:filetime>
  </property>
  <property fmtid="{D5CDD505-2E9C-101B-9397-08002B2CF9AE}" pid="5" name="Producer">
    <vt:lpwstr>Microsoft® PowerPoint® 2019</vt:lpwstr>
  </property>
</Properties>
</file>